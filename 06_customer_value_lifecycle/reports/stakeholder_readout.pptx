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956c95eb2147bc" /><Relationship Type="http://schemas.openxmlformats.org/officeDocument/2006/relationships/extended-properties" Target="/docProps/app.xml" Id="R11c49c426cb64797" /><Relationship Type="http://schemas.openxmlformats.org/officeDocument/2006/relationships/officeDocument" Target="/ppt/presentation.xml" Id="Reef09dfc4b1944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3111a957e545b2"/>
  </p:sldMasterIdLst>
  <p:notesMasterIdLst>
    <p:notesMasterId xmlns:r="http://schemas.openxmlformats.org/officeDocument/2006/relationships" r:id="R69068de0d55e45f6"/>
  </p:notesMasterIdLst>
  <p:sldIdLst>
    <p:sldId xmlns:r="http://schemas.openxmlformats.org/officeDocument/2006/relationships" id="256" r:id="Ra7f5cc49dc2e455a"/>
    <p:sldId xmlns:r="http://schemas.openxmlformats.org/officeDocument/2006/relationships" id="257" r:id="R1a1355c15c354780"/>
    <p:sldId xmlns:r="http://schemas.openxmlformats.org/officeDocument/2006/relationships" id="258" r:id="R1ac3e5cdae3a4356"/>
    <p:sldId xmlns:r="http://schemas.openxmlformats.org/officeDocument/2006/relationships" id="259" r:id="R409e8724a8264bfd"/>
    <p:sldId xmlns:r="http://schemas.openxmlformats.org/officeDocument/2006/relationships" id="260" r:id="R4b581cd41dd14b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99d9f35a864a07" /><Relationship Type="http://schemas.openxmlformats.org/officeDocument/2006/relationships/slideMaster" Target="/ppt/slideMasters/slideMaster1.xml" Id="R753111a957e545b2" /><Relationship Type="http://schemas.openxmlformats.org/officeDocument/2006/relationships/notesMaster" Target="/ppt/notesMasters/notesMaster1.xml" Id="R69068de0d55e45f6" /><Relationship Type="http://schemas.openxmlformats.org/officeDocument/2006/relationships/presProps" Target="/ppt/presProps.xml" Id="R0f07f40ef49349f4" /><Relationship Type="http://schemas.openxmlformats.org/officeDocument/2006/relationships/tableStyles" Target="/ppt/tableStyles.xml" Id="Rc654c9c510564000" /><Relationship Type="http://schemas.openxmlformats.org/officeDocument/2006/relationships/slide" Target="/ppt/slides/slide1.xml" Id="Ra7f5cc49dc2e455a" /><Relationship Type="http://schemas.openxmlformats.org/officeDocument/2006/relationships/slide" Target="/ppt/slides/slide2.xml" Id="R1a1355c15c354780" /><Relationship Type="http://schemas.openxmlformats.org/officeDocument/2006/relationships/slide" Target="/ppt/slides/slide3.xml" Id="R1ac3e5cdae3a4356" /><Relationship Type="http://schemas.openxmlformats.org/officeDocument/2006/relationships/slide" Target="/ppt/slides/slide4.xml" Id="R409e8724a8264bfd" /><Relationship Type="http://schemas.openxmlformats.org/officeDocument/2006/relationships/slide" Target="/ppt/slides/slide5.xml" Id="R4b581cd41dd14b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96cac0b6f94d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b23ce607044a55" /><Relationship Type="http://schemas.openxmlformats.org/officeDocument/2006/relationships/notesMaster" Target="/ppt/notesMasters/notesMaster1.xml" Id="R9fab7ba4b56747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b9d58d11e2477f" /><Relationship Type="http://schemas.openxmlformats.org/officeDocument/2006/relationships/notesMaster" Target="/ppt/notesMasters/notesMaster1.xml" Id="R2984cec1069b45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cca95c589b4bbf" /><Relationship Type="http://schemas.openxmlformats.org/officeDocument/2006/relationships/notesMaster" Target="/ppt/notesMasters/notesMaster1.xml" Id="R9d0c69f47b4a4b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c7130466ee409b" /><Relationship Type="http://schemas.openxmlformats.org/officeDocument/2006/relationships/notesMaster" Target="/ppt/notesMasters/notesMaster1.xml" Id="R477bf7b589a044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e665343baa4e83" /><Relationship Type="http://schemas.openxmlformats.org/officeDocument/2006/relationships/notesMaster" Target="/ppt/notesMasters/notesMaster1.xml" Id="R6e3257c71a9942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Harbor &amp; Pine customer-order analysis, seed 606, cutoff 2026-08-31.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Harbor &amp; Pine RFM profile, seed 606, 3,000 customers.</a:t>
            </a:r>
          </a:p>
          <a:p xmlns:a="http://schemas.openxmlformats.org/drawingml/2006/main">
            <a:r>
              <a:t>- Value shares reconcile to $2,220,951.82.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lifecycle migration generated from the same seed-606 order history.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Activation file derived from the seed-606 snapshot with capacity 500.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Recommendation and guardrails from the Harbor &amp; Pine stakeholder readout.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625287b4443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2ba7fc93244d86" /><Relationship Type="http://schemas.openxmlformats.org/officeDocument/2006/relationships/slideLayout" Target="/ppt/slideLayouts/slideLayout1.xml" Id="Rbccdd796ea0947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cdd796ea0947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1520ec6424f3f" /><Relationship Type="http://schemas.openxmlformats.org/officeDocument/2006/relationships/notesSlide" Target="/ppt/notesSlides/notesSlide1.xml" Id="R31adea14444c4f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f2d2b48d74fce" /><Relationship Type="http://schemas.openxmlformats.org/officeDocument/2006/relationships/chart" Target="/ppt/slides/charts/chart1.xml" Id="Re5da8a87a1d24980" /><Relationship Type="http://schemas.openxmlformats.org/officeDocument/2006/relationships/notesSlide" Target="/ppt/notesSlides/notesSlide2.xml" Id="Rf9a8169318c64b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e7a773c394465" /><Relationship Type="http://schemas.openxmlformats.org/officeDocument/2006/relationships/chart" Target="/ppt/slides/charts/chart2.xml" Id="R7bd188ff58df45f6" /><Relationship Type="http://schemas.openxmlformats.org/officeDocument/2006/relationships/notesSlide" Target="/ppt/notesSlides/notesSlide3.xml" Id="Rfed6427c64c74f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9c42b5db84239" /><Relationship Type="http://schemas.openxmlformats.org/officeDocument/2006/relationships/notesSlide" Target="/ppt/notesSlides/notesSlide4.xml" Id="R5a7fcde70c1a4f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060ff86104ae9" /><Relationship Type="http://schemas.openxmlformats.org/officeDocument/2006/relationships/notesSlide" Target="/ppt/notesSlides/notesSlide5.xml" Id="Ra373ca19242541a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Customer share</c:v>
          </c:tx>
          <c:spPr>
            <a:solidFill xmlns:a="http://schemas.openxmlformats.org/drawingml/2006/main">
              <a:srgbClr val="3AAFA9"/>
            </a:solidFill>
          </c:spPr>
          <c:cat>
            <c:strLit>
              <c:ptCount val="6"/>
              <c:pt idx="0">
                <c:v>Champions</c:v>
              </c:pt>
              <c:pt idx="1">
                <c:v>Loyal</c:v>
              </c:pt>
              <c:pt idx="2">
                <c:v>At Risk</c:v>
              </c:pt>
              <c:pt idx="3">
                <c:v>Hibernating</c:v>
              </c:pt>
              <c:pt idx="4">
                <c:v>New / Potential</c:v>
              </c:pt>
              <c:pt idx="5">
                <c:v>Needs Attention</c:v>
              </c:pt>
            </c:strLit>
          </c:cat>
          <c:val>
            <c:numLit>
              <c:formatCode>General</c:formatCode>
              <c:ptCount val="6"/>
              <c:pt idx="0">
                <c:v>23.1</c:v>
              </c:pt>
              <c:pt idx="1">
                <c:v>17.8</c:v>
              </c:pt>
              <c:pt idx="2">
                <c:v>16.8</c:v>
              </c:pt>
              <c:pt idx="3">
                <c:v>23.3</c:v>
              </c:pt>
              <c:pt idx="4">
                <c:v>11.3</c:v>
              </c:pt>
              <c:pt idx="5">
                <c:v>7.7</c:v>
              </c:pt>
            </c:numLit>
          </c:val>
        </c:ser>
        <c:ser>
          <c:idx val="1"/>
          <c:order val="1"/>
          <c:tx>
            <c:v>Value share</c:v>
          </c:tx>
          <c:spPr>
            <a:solidFill xmlns:a="http://schemas.openxmlformats.org/drawingml/2006/main">
              <a:srgbClr val="2E6F95"/>
            </a:solidFill>
          </c:spPr>
          <c:cat>
            <c:strLit>
              <c:ptCount val="6"/>
              <c:pt idx="0">
                <c:v>Champions</c:v>
              </c:pt>
              <c:pt idx="1">
                <c:v>Loyal</c:v>
              </c:pt>
              <c:pt idx="2">
                <c:v>At Risk</c:v>
              </c:pt>
              <c:pt idx="3">
                <c:v>Hibernating</c:v>
              </c:pt>
              <c:pt idx="4">
                <c:v>New / Potential</c:v>
              </c:pt>
              <c:pt idx="5">
                <c:v>Needs Attention</c:v>
              </c:pt>
            </c:strLit>
          </c:cat>
          <c:val>
            <c:numLit>
              <c:formatCode>General</c:formatCode>
              <c:ptCount val="6"/>
              <c:pt idx="0">
                <c:v>55.5</c:v>
              </c:pt>
              <c:pt idx="1">
                <c:v>17.7</c:v>
              </c:pt>
              <c:pt idx="2">
                <c:v>17</c:v>
              </c:pt>
              <c:pt idx="3">
                <c:v>5.1</c:v>
              </c:pt>
              <c:pt idx="4">
                <c:v>2.9</c:v>
              </c:pt>
              <c:pt idx="5">
                <c:v>1.8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2263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EF2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D6B78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Customers</c:v>
          </c:tx>
          <c:spPr>
            <a:solidFill xmlns:a="http://schemas.openxmlformats.org/drawingml/2006/main">
              <a:srgbClr val="2E6F95"/>
            </a:solidFill>
          </c:spPr>
          <c:cat>
            <c:strLit>
              <c:ptCount val="3"/>
              <c:pt idx="0">
                <c:v>Improved</c:v>
              </c:pt>
              <c:pt idx="1">
                <c:v>Stable</c:v>
              </c:pt>
              <c:pt idx="2">
                <c:v>Declined</c:v>
              </c:pt>
            </c:strLit>
          </c:cat>
          <c:val>
            <c:numLit>
              <c:formatCode>General</c:formatCode>
              <c:ptCount val="3"/>
              <c:pt idx="0">
                <c:v>969</c:v>
              </c:pt>
              <c:pt idx="1">
                <c:v>1356</c:v>
              </c:pt>
              <c:pt idx="2">
                <c:v>675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0D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5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D6B78"/>
                </a:solidFill>
              </a:defRPr>
            </a:pPr>
          </a:p>
        </c:txPr>
        <c:crossAx val="48650112"/>
        <c:crossBetween val="between"/>
        <c:majorUnit val="3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73EC0-7B28-4B8B-A8A5-0F3CF5D4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solidFill>
              <a:srgbClr val="EEF2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FBCBD-E1B0-44D4-B0A9-B6B29D16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  <a:prstDash val="solid"/>
          </a:ln>
        </p:spPr>
      </p:sp>
      <p:sp>
        <p:nvSpPr>
          <p:cNvPr id="3" name="text-58-54">
            <a:extLst xmlns:a="http://schemas.openxmlformats.org/drawingml/2006/main">
              <a:ext uri="{FF2B5EF4-FFF2-40B4-BE49-F238E27FC236}">
                <a16:creationId xmlns:a16="http://schemas.microsoft.com/office/drawing/2014/main" id="{6CEAB5B5-D16E-404B-8053-8EE5403A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F95"/>
                </a:solidFill>
              </a:defRPr>
            </a:pPr>
            <a:r>
              <a:rPr sz="1350" b="1">
                <a:solidFill>
                  <a:srgbClr val="2E6F95"/>
                </a:solidFill>
              </a:rPr>
              <a:t>CUSTOMER VALUE &amp; LIFECYCLE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C422F28-23A5-4166-BDBB-E4C3DFBC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609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2263A"/>
                </a:solidFill>
              </a:defRPr>
            </a:pPr>
            <a:r>
              <a:rPr sz="4350" b="1">
                <a:solidFill>
                  <a:srgbClr val="12263A"/>
                </a:solidFill>
              </a:rPr>
              <a:t>Protect customer value with a controlled retention test</a:t>
            </a:r>
          </a:p>
        </p:txBody>
      </p:sp>
      <p:sp>
        <p:nvSpPr>
          <p:cNvPr id="5" name="text-58-405">
            <a:extLst xmlns:a="http://schemas.openxmlformats.org/drawingml/2006/main">
              <a:ext uri="{FF2B5EF4-FFF2-40B4-BE49-F238E27FC236}">
                <a16:creationId xmlns:a16="http://schemas.microsoft.com/office/drawing/2014/main" id="{EACE51C9-D9B4-42FD-A701-658C1D82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590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78"/>
                </a:solidFill>
              </a:defRPr>
            </a:pPr>
            <a:r>
              <a:rPr sz="1650" b="0">
                <a:solidFill>
                  <a:srgbClr val="5D6B78"/>
                </a:solidFill>
              </a:rPr>
              <a:t>Harbor &amp; Pine · RFM snapshot as of 31 Aug 2026 · synthetic portfolio case</a:t>
            </a:r>
          </a:p>
        </p:txBody>
      </p:sp>
      <p:sp>
        <p:nvSpPr>
          <p:cNvPr id="6" name="text-842-184">
            <a:extLst xmlns:a="http://schemas.openxmlformats.org/drawingml/2006/main">
              <a:ext uri="{FF2B5EF4-FFF2-40B4-BE49-F238E27FC236}">
                <a16:creationId xmlns:a16="http://schemas.microsoft.com/office/drawing/2014/main" id="{764416A6-2A20-4E30-93BC-F58BA4C5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E76F51"/>
                </a:solidFill>
              </a:defRPr>
            </a:pPr>
            <a:r>
              <a:rPr sz="6600" b="1">
                <a:solidFill>
                  <a:srgbClr val="E76F51"/>
                </a:solidFill>
              </a:rPr>
              <a:t>500</a:t>
            </a:r>
          </a:p>
        </p:txBody>
      </p:sp>
      <p:sp>
        <p:nvSpPr>
          <p:cNvPr id="7" name="text-842-292">
            <a:extLst xmlns:a="http://schemas.openxmlformats.org/drawingml/2006/main">
              <a:ext uri="{FF2B5EF4-FFF2-40B4-BE49-F238E27FC236}">
                <a16:creationId xmlns:a16="http://schemas.microsoft.com/office/drawing/2014/main" id="{6EFFF1DE-60B9-4621-AD03-BF634F74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263A"/>
                </a:solidFill>
              </a:defRPr>
            </a:pPr>
            <a:r>
              <a:rPr sz="2100" b="1">
                <a:solidFill>
                  <a:srgbClr val="12263A"/>
                </a:solidFill>
              </a:rPr>
              <a:t>consented customers</a:t>
            </a:r>
          </a:p>
        </p:txBody>
      </p:sp>
      <p:sp>
        <p:nvSpPr>
          <p:cNvPr id="8" name="text-842-410">
            <a:extLst xmlns:a="http://schemas.openxmlformats.org/drawingml/2006/main">
              <a:ext uri="{FF2B5EF4-FFF2-40B4-BE49-F238E27FC236}">
                <a16:creationId xmlns:a16="http://schemas.microsoft.com/office/drawing/2014/main" id="{D5244C1B-C516-460A-9B31-3112E412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052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E6F95"/>
                </a:solidFill>
              </a:defRPr>
            </a:pPr>
            <a:r>
              <a:rPr sz="3600" b="1">
                <a:solidFill>
                  <a:srgbClr val="2E6F95"/>
                </a:solidFill>
              </a:rPr>
              <a:t>$323.2K</a:t>
            </a:r>
          </a:p>
        </p:txBody>
      </p:sp>
      <p:sp>
        <p:nvSpPr>
          <p:cNvPr id="9" name="text-842-482">
            <a:extLst xmlns:a="http://schemas.openxmlformats.org/drawingml/2006/main">
              <a:ext uri="{FF2B5EF4-FFF2-40B4-BE49-F238E27FC236}">
                <a16:creationId xmlns:a16="http://schemas.microsoft.com/office/drawing/2014/main" id="{CF8EB7F2-4A93-424B-8A94-857BDDD5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910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6B78"/>
                </a:solidFill>
              </a:defRPr>
            </a:pPr>
            <a:r>
              <a:rPr sz="1500" b="0">
                <a:solidFill>
                  <a:srgbClr val="5D6B78"/>
                </a:solidFill>
              </a:rPr>
              <a:t>trailing-year value in the first wave</a:t>
            </a:r>
          </a:p>
        </p:txBody>
      </p:sp>
      <p:sp>
        <p:nvSpPr>
          <p:cNvPr id="10" name="text-56-675">
            <a:extLst xmlns:a="http://schemas.openxmlformats.org/drawingml/2006/main">
              <a:ext uri="{FF2B5EF4-FFF2-40B4-BE49-F238E27FC236}">
                <a16:creationId xmlns:a16="http://schemas.microsoft.com/office/drawing/2014/main" id="{457D4DF2-C1DD-48C7-A313-5D2ACA66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Decision: approve a randomized retention test, not a broad rollout.</a:t>
            </a:r>
          </a:p>
        </p:txBody>
      </p:sp>
    </p:spTree>
    <p:extLst>
      <p:ext uri="{BB962C8B-B14F-4D97-AF65-F5344CB8AC3E}">
        <p14:creationId xmlns:p14="http://schemas.microsoft.com/office/powerpoint/2010/main" val="20661009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DACD1350-BDD1-488D-9414-11B94AAF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63A"/>
                </a:solidFill>
              </a:defRPr>
            </a:pPr>
            <a:r>
              <a:rPr sz="2850" b="1">
                <a:solidFill>
                  <a:srgbClr val="12263A"/>
                </a:solidFill>
              </a:rPr>
              <a:t>Champions create over half of trailing-year value</a:t>
            </a:r>
          </a:p>
        </p:txBody>
      </p:sp>
      <p:sp>
        <p:nvSpPr>
          <p:cNvPr id="2" name="text-1180-42">
            <a:extLst xmlns:a="http://schemas.openxmlformats.org/drawingml/2006/main">
              <a:ext uri="{FF2B5EF4-FFF2-40B4-BE49-F238E27FC236}">
                <a16:creationId xmlns:a16="http://schemas.microsoft.com/office/drawing/2014/main" id="{34A6CFB1-FDE3-42A2-A721-1FBEF03E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50B25-232B-4259-BBCB-9B279642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8"/>
          </a:solidFill>
          <a:ln xmlns:a="http://schemas.openxmlformats.org/drawingml/2006/main" w="0">
            <a:solidFill>
              <a:srgbClr val="C8D0D8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52450" y="1381125"/>
          <a:ext xmlns:a="http://schemas.openxmlformats.org/drawingml/2006/main" cx="6858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da8a87a1d24980"/>
          </a:graphicData>
        </a:graphic>
      </p:graphicFrame>
      <p:sp>
        <p:nvSpPr>
          <p:cNvPr id="5" name="text-855-164">
            <a:extLst xmlns:a="http://schemas.openxmlformats.org/drawingml/2006/main">
              <a:ext uri="{FF2B5EF4-FFF2-40B4-BE49-F238E27FC236}">
                <a16:creationId xmlns:a16="http://schemas.microsoft.com/office/drawing/2014/main" id="{20750621-DE4B-481E-B4AB-8ED9E369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621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AAFA9"/>
                </a:solidFill>
              </a:defRPr>
            </a:pPr>
            <a:r>
              <a:rPr sz="3900" b="1">
                <a:solidFill>
                  <a:srgbClr val="3AAFA9"/>
                </a:solidFill>
              </a:rPr>
              <a:t>23.1%</a:t>
            </a:r>
          </a:p>
        </p:txBody>
      </p:sp>
      <p:sp>
        <p:nvSpPr>
          <p:cNvPr id="6" name="text-855-234">
            <a:extLst xmlns:a="http://schemas.openxmlformats.org/drawingml/2006/main">
              <a:ext uri="{FF2B5EF4-FFF2-40B4-BE49-F238E27FC236}">
                <a16:creationId xmlns:a16="http://schemas.microsoft.com/office/drawing/2014/main" id="{2C2EC606-2CA9-43DD-AC46-68A375B7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28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B78"/>
                </a:solidFill>
              </a:defRPr>
            </a:pPr>
            <a:r>
              <a:rPr sz="1575" b="0">
                <a:solidFill>
                  <a:srgbClr val="5D6B78"/>
                </a:solidFill>
              </a:rPr>
              <a:t>of customers are Champions</a:t>
            </a:r>
          </a:p>
        </p:txBody>
      </p:sp>
      <p:sp>
        <p:nvSpPr>
          <p:cNvPr id="7" name="text-855-330">
            <a:extLst xmlns:a="http://schemas.openxmlformats.org/drawingml/2006/main">
              <a:ext uri="{FF2B5EF4-FFF2-40B4-BE49-F238E27FC236}">
                <a16:creationId xmlns:a16="http://schemas.microsoft.com/office/drawing/2014/main" id="{15CA4C52-09B4-46BE-A933-E1A5D2B0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432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E6F95"/>
                </a:solidFill>
              </a:defRPr>
            </a:pPr>
            <a:r>
              <a:rPr sz="3900" b="1">
                <a:solidFill>
                  <a:srgbClr val="2E6F95"/>
                </a:solidFill>
              </a:rPr>
              <a:t>55.5%</a:t>
            </a:r>
          </a:p>
        </p:txBody>
      </p:sp>
      <p:sp>
        <p:nvSpPr>
          <p:cNvPr id="8" name="text-855-400">
            <a:extLst xmlns:a="http://schemas.openxmlformats.org/drawingml/2006/main">
              <a:ext uri="{FF2B5EF4-FFF2-40B4-BE49-F238E27FC236}">
                <a16:creationId xmlns:a16="http://schemas.microsoft.com/office/drawing/2014/main" id="{F906A82F-470C-482A-BD8F-868972E7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100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B78"/>
                </a:solidFill>
              </a:defRPr>
            </a:pPr>
            <a:r>
              <a:rPr sz="1575" b="0">
                <a:solidFill>
                  <a:srgbClr val="5D6B78"/>
                </a:solidFill>
              </a:rPr>
              <a:t>of value comes from Champions</a:t>
            </a:r>
          </a:p>
        </p:txBody>
      </p:sp>
      <p:sp>
        <p:nvSpPr>
          <p:cNvPr id="9" name="text-855-500">
            <a:extLst xmlns:a="http://schemas.openxmlformats.org/drawingml/2006/main">
              <a:ext uri="{FF2B5EF4-FFF2-40B4-BE49-F238E27FC236}">
                <a16:creationId xmlns:a16="http://schemas.microsoft.com/office/drawing/2014/main" id="{46ED2366-7D39-4B3D-9EB4-61CEA80A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762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63A"/>
                </a:solidFill>
              </a:defRPr>
            </a:pPr>
            <a:r>
              <a:rPr sz="1650" b="1">
                <a:solidFill>
                  <a:srgbClr val="12263A"/>
                </a:solidFill>
              </a:rPr>
              <a:t>Implication</a:t>
            </a:r>
          </a:p>
        </p:txBody>
      </p:sp>
      <p:sp>
        <p:nvSpPr>
          <p:cNvPr id="10" name="text-855-540">
            <a:extLst xmlns:a="http://schemas.openxmlformats.org/drawingml/2006/main">
              <a:ext uri="{FF2B5EF4-FFF2-40B4-BE49-F238E27FC236}">
                <a16:creationId xmlns:a16="http://schemas.microsoft.com/office/drawing/2014/main" id="{79C9BC9E-691D-4E88-A9BA-667AABEF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435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78"/>
                </a:solidFill>
              </a:defRPr>
            </a:pPr>
            <a:r>
              <a:rPr sz="1500" b="0">
                <a:solidFill>
                  <a:srgbClr val="5D6B78"/>
                </a:solidFill>
              </a:rPr>
              <a:t>Protect high-value relationships while testing retention where disengagement and value overlap.</a:t>
            </a:r>
          </a:p>
        </p:txBody>
      </p:sp>
      <p:sp>
        <p:nvSpPr>
          <p:cNvPr id="11" name="text-56-675">
            <a:extLst xmlns:a="http://schemas.openxmlformats.org/drawingml/2006/main">
              <a:ext uri="{FF2B5EF4-FFF2-40B4-BE49-F238E27FC236}">
                <a16:creationId xmlns:a16="http://schemas.microsoft.com/office/drawing/2014/main" id="{73EFEED0-D3EB-40B8-806C-7D5D5250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Trailing 365-day recognized revenue; RFM is population-relative.</a:t>
            </a:r>
          </a:p>
        </p:txBody>
      </p:sp>
    </p:spTree>
    <p:extLst>
      <p:ext uri="{BB962C8B-B14F-4D97-AF65-F5344CB8AC3E}">
        <p14:creationId xmlns:p14="http://schemas.microsoft.com/office/powerpoint/2010/main" val="18960015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256AE9E4-A8A2-4EC8-8F43-29C08950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63A"/>
                </a:solidFill>
              </a:defRPr>
            </a:pPr>
            <a:r>
              <a:rPr sz="2850" b="1">
                <a:solidFill>
                  <a:srgbClr val="12263A"/>
                </a:solidFill>
              </a:rPr>
              <a:t>675 customers declined during the quarter</a:t>
            </a:r>
          </a:p>
        </p:txBody>
      </p:sp>
      <p:sp>
        <p:nvSpPr>
          <p:cNvPr id="2" name="text-1180-42">
            <a:extLst xmlns:a="http://schemas.openxmlformats.org/drawingml/2006/main">
              <a:ext uri="{FF2B5EF4-FFF2-40B4-BE49-F238E27FC236}">
                <a16:creationId xmlns:a16="http://schemas.microsoft.com/office/drawing/2014/main" id="{CC9FB788-186C-46E0-9A52-EF870060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A3D8F-7DAB-4FDC-B2E5-4B2F9967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8"/>
          </a:solidFill>
          <a:ln xmlns:a="http://schemas.openxmlformats.org/drawingml/2006/main" w="0">
            <a:solidFill>
              <a:srgbClr val="C8D0D8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52450" y="1571625"/>
          <a:ext xmlns:a="http://schemas.openxmlformats.org/drawingml/2006/main" cx="5905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d188ff58df45f6"/>
          </a:graphicData>
        </a:graphic>
      </p:graphicFrame>
      <p:sp>
        <p:nvSpPr>
          <p:cNvPr id="5" name="text-750-158">
            <a:extLst xmlns:a="http://schemas.openxmlformats.org/drawingml/2006/main">
              <a:ext uri="{FF2B5EF4-FFF2-40B4-BE49-F238E27FC236}">
                <a16:creationId xmlns:a16="http://schemas.microsoft.com/office/drawing/2014/main" id="{BF274C51-68AE-4BF0-A5BF-8183206E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049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63A"/>
                </a:solidFill>
              </a:defRPr>
            </a:pPr>
            <a:r>
              <a:rPr sz="1875" b="1">
                <a:solidFill>
                  <a:srgbClr val="12263A"/>
                </a:solidFill>
              </a:rPr>
              <a:t>Signals to act on</a:t>
            </a:r>
          </a:p>
        </p:txBody>
      </p:sp>
      <p:sp>
        <p:nvSpPr>
          <p:cNvPr id="6" name="text-750-230">
            <a:extLst xmlns:a="http://schemas.openxmlformats.org/drawingml/2006/main">
              <a:ext uri="{FF2B5EF4-FFF2-40B4-BE49-F238E27FC236}">
                <a16:creationId xmlns:a16="http://schemas.microsoft.com/office/drawing/2014/main" id="{E37DAEA8-233D-4C10-83A9-4D2DC14D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AAFA9"/>
                </a:solidFill>
              </a:defRPr>
            </a:pPr>
            <a:r>
              <a:rPr sz="3150" b="1">
                <a:solidFill>
                  <a:srgbClr val="3AAFA9"/>
                </a:solidFill>
              </a:rPr>
              <a:t>227</a:t>
            </a:r>
          </a:p>
        </p:txBody>
      </p:sp>
      <p:sp>
        <p:nvSpPr>
          <p:cNvPr id="7" name="text-880-237">
            <a:extLst xmlns:a="http://schemas.openxmlformats.org/drawingml/2006/main">
              <a:ext uri="{FF2B5EF4-FFF2-40B4-BE49-F238E27FC236}">
                <a16:creationId xmlns:a16="http://schemas.microsoft.com/office/drawing/2014/main" id="{74B59879-57BA-456A-B59E-1FE9C611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574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63A"/>
                </a:solidFill>
              </a:defRPr>
            </a:pPr>
            <a:r>
              <a:rPr sz="1650" b="1">
                <a:solidFill>
                  <a:srgbClr val="12263A"/>
                </a:solidFill>
              </a:rPr>
              <a:t>Loyal → Champions</a:t>
            </a:r>
          </a:p>
        </p:txBody>
      </p:sp>
      <p:sp>
        <p:nvSpPr>
          <p:cNvPr id="8" name="text-750-335">
            <a:extLst xmlns:a="http://schemas.openxmlformats.org/drawingml/2006/main">
              <a:ext uri="{FF2B5EF4-FFF2-40B4-BE49-F238E27FC236}">
                <a16:creationId xmlns:a16="http://schemas.microsoft.com/office/drawing/2014/main" id="{3E041F38-D5FD-4672-9715-91FD2EE9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76F51"/>
                </a:solidFill>
              </a:defRPr>
            </a:pPr>
            <a:r>
              <a:rPr sz="3150" b="1">
                <a:solidFill>
                  <a:srgbClr val="E76F51"/>
                </a:solidFill>
              </a:rPr>
              <a:t>192</a:t>
            </a:r>
          </a:p>
        </p:txBody>
      </p:sp>
      <p:sp>
        <p:nvSpPr>
          <p:cNvPr id="9" name="text-880-342">
            <a:extLst xmlns:a="http://schemas.openxmlformats.org/drawingml/2006/main">
              <a:ext uri="{FF2B5EF4-FFF2-40B4-BE49-F238E27FC236}">
                <a16:creationId xmlns:a16="http://schemas.microsoft.com/office/drawing/2014/main" id="{FBAA98B0-F6F0-4C2E-9F5B-565B74A7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575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63A"/>
                </a:solidFill>
              </a:defRPr>
            </a:pPr>
            <a:r>
              <a:rPr sz="1650" b="1">
                <a:solidFill>
                  <a:srgbClr val="12263A"/>
                </a:solidFill>
              </a:rPr>
              <a:t>Loyal → At Risk</a:t>
            </a:r>
          </a:p>
        </p:txBody>
      </p:sp>
      <p:sp>
        <p:nvSpPr>
          <p:cNvPr id="10" name="text-750-440">
            <a:extLst xmlns:a="http://schemas.openxmlformats.org/drawingml/2006/main">
              <a:ext uri="{FF2B5EF4-FFF2-40B4-BE49-F238E27FC236}">
                <a16:creationId xmlns:a16="http://schemas.microsoft.com/office/drawing/2014/main" id="{D2D6272E-DE57-4D98-904E-76DB838D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76F51"/>
                </a:solidFill>
              </a:defRPr>
            </a:pPr>
            <a:r>
              <a:rPr sz="3150" b="1">
                <a:solidFill>
                  <a:srgbClr val="E76F51"/>
                </a:solidFill>
              </a:rPr>
              <a:t>143</a:t>
            </a:r>
          </a:p>
        </p:txBody>
      </p:sp>
      <p:sp>
        <p:nvSpPr>
          <p:cNvPr id="11" name="text-880-447">
            <a:extLst xmlns:a="http://schemas.openxmlformats.org/drawingml/2006/main">
              <a:ext uri="{FF2B5EF4-FFF2-40B4-BE49-F238E27FC236}">
                <a16:creationId xmlns:a16="http://schemas.microsoft.com/office/drawing/2014/main" id="{94FDC8C9-0856-4227-8159-EE71EEFB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576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63A"/>
                </a:solidFill>
              </a:defRPr>
            </a:pPr>
            <a:r>
              <a:rPr sz="1650" b="1">
                <a:solidFill>
                  <a:srgbClr val="12263A"/>
                </a:solidFill>
              </a:rPr>
              <a:t>At Risk → Hibernating</a:t>
            </a:r>
          </a:p>
        </p:txBody>
      </p:sp>
      <p:sp>
        <p:nvSpPr>
          <p:cNvPr id="12" name="text-750-548">
            <a:extLst xmlns:a="http://schemas.openxmlformats.org/drawingml/2006/main">
              <a:ext uri="{FF2B5EF4-FFF2-40B4-BE49-F238E27FC236}">
                <a16:creationId xmlns:a16="http://schemas.microsoft.com/office/drawing/2014/main" id="{6C6855A9-6EE0-4B94-990D-24154F56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197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78"/>
                </a:solidFill>
              </a:defRPr>
            </a:pPr>
            <a:r>
              <a:rPr sz="1425" b="0">
                <a:solidFill>
                  <a:srgbClr val="5D6B78"/>
                </a:solidFill>
              </a:rPr>
              <a:t>Movement is descriptive: behavior and relative score thresholds can both change assignment.</a:t>
            </a:r>
          </a:p>
        </p:txBody>
      </p:sp>
      <p:sp>
        <p:nvSpPr>
          <p:cNvPr id="13" name="text-56-675">
            <a:extLst xmlns:a="http://schemas.openxmlformats.org/drawingml/2006/main">
              <a:ext uri="{FF2B5EF4-FFF2-40B4-BE49-F238E27FC236}">
                <a16:creationId xmlns:a16="http://schemas.microsoft.com/office/drawing/2014/main" id="{0839CBEE-D88A-4BCE-8EEE-A57BBB9C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Comparison: 31 May 2026 vs 31 Aug 2026; one movement label per customer.</a:t>
            </a:r>
          </a:p>
        </p:txBody>
      </p:sp>
    </p:spTree>
    <p:extLst>
      <p:ext uri="{BB962C8B-B14F-4D97-AF65-F5344CB8AC3E}">
        <p14:creationId xmlns:p14="http://schemas.microsoft.com/office/powerpoint/2010/main" val="11725006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2E072E42-7A5C-494A-BEA9-F90E36A6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63A"/>
                </a:solidFill>
              </a:defRPr>
            </a:pPr>
            <a:r>
              <a:rPr sz="2850" b="1">
                <a:solidFill>
                  <a:srgbClr val="12263A"/>
                </a:solidFill>
              </a:rPr>
              <a:t>A transparent first wave fits the 500-customer capacity</a:t>
            </a:r>
          </a:p>
        </p:txBody>
      </p:sp>
      <p:sp>
        <p:nvSpPr>
          <p:cNvPr id="2" name="text-1180-42">
            <a:extLst xmlns:a="http://schemas.openxmlformats.org/drawingml/2006/main">
              <a:ext uri="{FF2B5EF4-FFF2-40B4-BE49-F238E27FC236}">
                <a16:creationId xmlns:a16="http://schemas.microsoft.com/office/drawing/2014/main" id="{F3D8DC37-2AA0-4D89-BD36-0A6D17AF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3973B-E981-4F63-AB60-7F05DA70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8"/>
          </a:solidFill>
          <a:ln xmlns:a="http://schemas.openxmlformats.org/drawingml/2006/main" w="0">
            <a:solidFill>
              <a:srgbClr val="C8D0D8"/>
            </a:solidFill>
            <a:prstDash val="solid"/>
          </a:ln>
        </p:spPr>
      </p:sp>
      <p:sp>
        <p:nvSpPr>
          <p:cNvPr id="4" name="text-74-160">
            <a:extLst xmlns:a="http://schemas.openxmlformats.org/drawingml/2006/main">
              <a:ext uri="{FF2B5EF4-FFF2-40B4-BE49-F238E27FC236}">
                <a16:creationId xmlns:a16="http://schemas.microsoft.com/office/drawing/2014/main" id="{3468A75B-5E15-4463-88D9-0EDF18CC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E76F51"/>
                </a:solidFill>
              </a:defRPr>
            </a:pPr>
            <a:r>
              <a:rPr sz="6150" b="1">
                <a:solidFill>
                  <a:srgbClr val="E76F51"/>
                </a:solidFill>
              </a:rPr>
              <a:t>500</a:t>
            </a:r>
          </a:p>
        </p:txBody>
      </p:sp>
      <p:sp>
        <p:nvSpPr>
          <p:cNvPr id="5" name="text-74-266">
            <a:extLst xmlns:a="http://schemas.openxmlformats.org/drawingml/2006/main">
              <a:ext uri="{FF2B5EF4-FFF2-40B4-BE49-F238E27FC236}">
                <a16:creationId xmlns:a16="http://schemas.microsoft.com/office/drawing/2014/main" id="{EC50BAD3-E265-47BE-AC39-BFD87F1C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263A"/>
                </a:solidFill>
              </a:defRPr>
            </a:pPr>
            <a:r>
              <a:rPr sz="2100" b="1">
                <a:solidFill>
                  <a:srgbClr val="12263A"/>
                </a:solidFill>
              </a:rPr>
              <a:t>consented customers</a:t>
            </a:r>
          </a:p>
        </p:txBody>
      </p:sp>
      <p:sp>
        <p:nvSpPr>
          <p:cNvPr id="6" name="text-74-360">
            <a:extLst xmlns:a="http://schemas.openxmlformats.org/drawingml/2006/main">
              <a:ext uri="{FF2B5EF4-FFF2-40B4-BE49-F238E27FC236}">
                <a16:creationId xmlns:a16="http://schemas.microsoft.com/office/drawing/2014/main" id="{D9E287AB-1911-4EF0-9F7D-BCCFE9CB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E6F95"/>
                </a:solidFill>
              </a:defRPr>
            </a:pPr>
            <a:r>
              <a:rPr sz="2400" b="1">
                <a:solidFill>
                  <a:srgbClr val="2E6F95"/>
                </a:solidFill>
              </a:rPr>
              <a:t>398 At Risk</a:t>
            </a:r>
          </a:p>
        </p:txBody>
      </p:sp>
      <p:sp>
        <p:nvSpPr>
          <p:cNvPr id="7" name="text-74-420">
            <a:extLst xmlns:a="http://schemas.openxmlformats.org/drawingml/2006/main">
              <a:ext uri="{FF2B5EF4-FFF2-40B4-BE49-F238E27FC236}">
                <a16:creationId xmlns:a16="http://schemas.microsoft.com/office/drawing/2014/main" id="{D6FB71D3-51DD-42F0-BE6E-CC252A2C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AAFA9"/>
                </a:solidFill>
              </a:defRPr>
            </a:pPr>
            <a:r>
              <a:rPr sz="2400" b="1">
                <a:solidFill>
                  <a:srgbClr val="3AAFA9"/>
                </a:solidFill>
              </a:rPr>
              <a:t>102 Needs Attention</a:t>
            </a:r>
          </a:p>
        </p:txBody>
      </p:sp>
      <p:sp>
        <p:nvSpPr>
          <p:cNvPr id="8" name="text-74-520">
            <a:extLst xmlns:a="http://schemas.openxmlformats.org/drawingml/2006/main">
              <a:ext uri="{FF2B5EF4-FFF2-40B4-BE49-F238E27FC236}">
                <a16:creationId xmlns:a16="http://schemas.microsoft.com/office/drawing/2014/main" id="{26CDD29C-B4EA-42F3-A0ED-7026CFC1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263A"/>
                </a:solidFill>
              </a:defRPr>
            </a:pPr>
            <a:r>
              <a:rPr sz="1950" b="1">
                <a:solidFill>
                  <a:srgbClr val="12263A"/>
                </a:solidFill>
              </a:rPr>
              <a:t>$323.2K trailing-year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B8A88-0BB6-4E34-8A6E-2F65C448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352550"/>
            <a:ext cx="190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8"/>
          </a:solidFill>
          <a:ln xmlns:a="http://schemas.openxmlformats.org/drawingml/2006/main" w="0">
            <a:solidFill>
              <a:srgbClr val="C8D0D8"/>
            </a:solidFill>
            <a:prstDash val="solid"/>
          </a:ln>
        </p:spPr>
      </p:sp>
      <p:sp>
        <p:nvSpPr>
          <p:cNvPr id="10" name="text-650-150">
            <a:extLst xmlns:a="http://schemas.openxmlformats.org/drawingml/2006/main">
              <a:ext uri="{FF2B5EF4-FFF2-40B4-BE49-F238E27FC236}">
                <a16:creationId xmlns:a16="http://schemas.microsoft.com/office/drawing/2014/main" id="{8501F00E-4962-4EA2-8E65-1C80E82B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263A"/>
                </a:solidFill>
              </a:defRPr>
            </a:pPr>
            <a:r>
              <a:rPr sz="2100" b="1">
                <a:solidFill>
                  <a:srgbClr val="12263A"/>
                </a:solidFill>
              </a:rPr>
              <a:t>Priority logic</a:t>
            </a:r>
          </a:p>
        </p:txBody>
      </p:sp>
      <p:sp>
        <p:nvSpPr>
          <p:cNvPr id="11" name="text-650-215">
            <a:extLst xmlns:a="http://schemas.openxmlformats.org/drawingml/2006/main">
              <a:ext uri="{FF2B5EF4-FFF2-40B4-BE49-F238E27FC236}">
                <a16:creationId xmlns:a16="http://schemas.microsoft.com/office/drawing/2014/main" id="{15C68DB1-6F1C-490A-AA61-FFE506FA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263A"/>
                </a:solidFill>
              </a:defRPr>
            </a:pPr>
            <a:r>
              <a:rPr sz="1875" b="0">
                <a:solidFill>
                  <a:srgbClr val="12263A"/>
                </a:solidFill>
              </a:rPr>
              <a:t>45% monetary score</a:t>
            </a:r>
          </a:p>
          <a:p xmlns:a="http://schemas.openxmlformats.org/drawingml/2006/main">
            <a:pPr algn="l">
              <a:defRPr sz="1875" b="0">
                <a:solidFill>
                  <a:srgbClr val="12263A"/>
                </a:solidFill>
              </a:defRPr>
            </a:pPr>
            <a:r>
              <a:rPr sz="1875" b="0">
                <a:solidFill>
                  <a:srgbClr val="12263A"/>
                </a:solidFill>
              </a:rPr>
              <a:t>35% frequency score</a:t>
            </a:r>
          </a:p>
          <a:p xmlns:a="http://schemas.openxmlformats.org/drawingml/2006/main">
            <a:pPr algn="l">
              <a:defRPr sz="1875" b="0">
                <a:solidFill>
                  <a:srgbClr val="12263A"/>
                </a:solidFill>
              </a:defRPr>
            </a:pPr>
            <a:r>
              <a:rPr sz="1875" b="0">
                <a:solidFill>
                  <a:srgbClr val="12263A"/>
                </a:solidFill>
              </a:rPr>
              <a:t>20% disengagement evidence</a:t>
            </a:r>
          </a:p>
        </p:txBody>
      </p:sp>
      <p:sp>
        <p:nvSpPr>
          <p:cNvPr id="12" name="text-650-392">
            <a:extLst xmlns:a="http://schemas.openxmlformats.org/drawingml/2006/main">
              <a:ext uri="{FF2B5EF4-FFF2-40B4-BE49-F238E27FC236}">
                <a16:creationId xmlns:a16="http://schemas.microsoft.com/office/drawing/2014/main" id="{35D73559-9DF5-4630-9F80-C09F63F4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263A"/>
                </a:solidFill>
              </a:defRPr>
            </a:pPr>
            <a:r>
              <a:rPr sz="2100" b="1">
                <a:solidFill>
                  <a:srgbClr val="12263A"/>
                </a:solidFill>
              </a:rPr>
              <a:t>Hard controls</a:t>
            </a:r>
          </a:p>
        </p:txBody>
      </p:sp>
      <p:sp>
        <p:nvSpPr>
          <p:cNvPr id="13" name="text-650-455">
            <a:extLst xmlns:a="http://schemas.openxmlformats.org/drawingml/2006/main">
              <a:ext uri="{FF2B5EF4-FFF2-40B4-BE49-F238E27FC236}">
                <a16:creationId xmlns:a16="http://schemas.microsoft.com/office/drawing/2014/main" id="{AB606BEC-A523-402D-B22A-BD4A8883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78"/>
                </a:solidFill>
              </a:defRPr>
            </a:pPr>
            <a:r>
              <a:rPr sz="1650" b="0">
                <a:solidFill>
                  <a:srgbClr val="5D6B78"/>
                </a:solidFill>
              </a:rPr>
              <a:t>Current marketing consent</a:t>
            </a:r>
          </a:p>
          <a:p xmlns:a="http://schemas.openxmlformats.org/drawingml/2006/main">
            <a:pPr algn="l">
              <a:defRPr sz="1650" b="0">
                <a:solidFill>
                  <a:srgbClr val="5D6B78"/>
                </a:solidFill>
              </a:defRPr>
            </a:pPr>
            <a:r>
              <a:rPr sz="1650" b="0">
                <a:solidFill>
                  <a:srgbClr val="5D6B78"/>
                </a:solidFill>
              </a:rPr>
              <a:t>At Risk or Needs Attention only</a:t>
            </a:r>
          </a:p>
          <a:p xmlns:a="http://schemas.openxmlformats.org/drawingml/2006/main">
            <a:pPr algn="l">
              <a:defRPr sz="1650" b="0">
                <a:solidFill>
                  <a:srgbClr val="5D6B78"/>
                </a:solidFill>
              </a:defRPr>
            </a:pPr>
            <a:r>
              <a:rPr sz="1650" b="0">
                <a:solidFill>
                  <a:srgbClr val="5D6B78"/>
                </a:solidFill>
              </a:rPr>
              <a:t>Deterministic customer-ID tie-breaker</a:t>
            </a:r>
          </a:p>
          <a:p xmlns:a="http://schemas.openxmlformats.org/drawingml/2006/main">
            <a:pPr algn="l">
              <a:defRPr sz="1650" b="0">
                <a:solidFill>
                  <a:srgbClr val="5D6B78"/>
                </a:solidFill>
              </a:defRPr>
            </a:pPr>
            <a:r>
              <a:rPr sz="1650" b="0">
                <a:solidFill>
                  <a:srgbClr val="5D6B78"/>
                </a:solidFill>
              </a:rPr>
              <a:t>Pre-send suppression refresh</a:t>
            </a:r>
          </a:p>
        </p:txBody>
      </p:sp>
      <p:sp>
        <p:nvSpPr>
          <p:cNvPr id="14" name="text-56-675">
            <a:extLst xmlns:a="http://schemas.openxmlformats.org/drawingml/2006/main">
              <a:ext uri="{FF2B5EF4-FFF2-40B4-BE49-F238E27FC236}">
                <a16:creationId xmlns:a16="http://schemas.microsoft.com/office/drawing/2014/main" id="{9CA53058-C76A-40E8-9F62-A12B3CC3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Historical value prioritizes the test; it does not forecast incremental response.</a:t>
            </a:r>
          </a:p>
        </p:txBody>
      </p:sp>
    </p:spTree>
    <p:extLst>
      <p:ext uri="{BB962C8B-B14F-4D97-AF65-F5344CB8AC3E}">
        <p14:creationId xmlns:p14="http://schemas.microsoft.com/office/powerpoint/2010/main" val="20845336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58-52">
            <a:extLst xmlns:a="http://schemas.openxmlformats.org/drawingml/2006/main">
              <a:ext uri="{FF2B5EF4-FFF2-40B4-BE49-F238E27FC236}">
                <a16:creationId xmlns:a16="http://schemas.microsoft.com/office/drawing/2014/main" id="{8AFFFED9-829F-4958-BFBC-9E6F8B98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F95"/>
                </a:solidFill>
              </a:defRPr>
            </a:pPr>
            <a:r>
              <a:rPr sz="1350" b="1">
                <a:solidFill>
                  <a:srgbClr val="2E6F95"/>
                </a:solidFill>
              </a:rPr>
              <a:t>RECOMMENDATION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7C5686CD-7615-4235-ABDA-F71DF701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2263A"/>
                </a:solidFill>
              </a:defRPr>
            </a:pPr>
            <a:r>
              <a:rPr sz="3900" b="1">
                <a:solidFill>
                  <a:srgbClr val="12263A"/>
                </a:solidFill>
              </a:rPr>
              <a:t>Approve the test—not a broad rollout</a:t>
            </a:r>
          </a:p>
        </p:txBody>
      </p:sp>
      <p:sp>
        <p:nvSpPr>
          <p:cNvPr id="3" name="text-74-300">
            <a:extLst xmlns:a="http://schemas.openxmlformats.org/drawingml/2006/main">
              <a:ext uri="{FF2B5EF4-FFF2-40B4-BE49-F238E27FC236}">
                <a16:creationId xmlns:a16="http://schemas.microsoft.com/office/drawing/2014/main" id="{BB406459-9E58-4695-80EA-50C9D70F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AAFA9"/>
                </a:solidFill>
              </a:defRPr>
            </a:pPr>
            <a:r>
              <a:rPr sz="2400" b="1">
                <a:solidFill>
                  <a:srgbClr val="3AAFA9"/>
                </a:solidFill>
              </a:rPr>
              <a:t>1</a:t>
            </a:r>
          </a:p>
        </p:txBody>
      </p:sp>
      <p:sp>
        <p:nvSpPr>
          <p:cNvPr id="4" name="text-140-302">
            <a:extLst xmlns:a="http://schemas.openxmlformats.org/drawingml/2006/main">
              <a:ext uri="{FF2B5EF4-FFF2-40B4-BE49-F238E27FC236}">
                <a16:creationId xmlns:a16="http://schemas.microsoft.com/office/drawing/2014/main" id="{F1988CAE-273F-455D-990A-90726DBC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7655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63A"/>
                </a:solidFill>
              </a:defRPr>
            </a:pPr>
            <a:r>
              <a:rPr sz="1725" b="1">
                <a:solidFill>
                  <a:srgbClr val="12263A"/>
                </a:solidFill>
              </a:rPr>
              <a:t>Randomize a holdout within comparable priority bands.</a:t>
            </a:r>
          </a:p>
        </p:txBody>
      </p:sp>
      <p:sp>
        <p:nvSpPr>
          <p:cNvPr id="5" name="text-74-405">
            <a:extLst xmlns:a="http://schemas.openxmlformats.org/drawingml/2006/main">
              <a:ext uri="{FF2B5EF4-FFF2-40B4-BE49-F238E27FC236}">
                <a16:creationId xmlns:a16="http://schemas.microsoft.com/office/drawing/2014/main" id="{AFD82A69-6BD9-40D2-9A55-4FAE31ED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AAFA9"/>
                </a:solidFill>
              </a:defRPr>
            </a:pPr>
            <a:r>
              <a:rPr sz="2400" b="1">
                <a:solidFill>
                  <a:srgbClr val="3AAFA9"/>
                </a:solidFill>
              </a:rPr>
              <a:t>2</a:t>
            </a:r>
          </a:p>
        </p:txBody>
      </p:sp>
      <p:sp>
        <p:nvSpPr>
          <p:cNvPr id="6" name="text-140-407">
            <a:extLst xmlns:a="http://schemas.openxmlformats.org/drawingml/2006/main">
              <a:ext uri="{FF2B5EF4-FFF2-40B4-BE49-F238E27FC236}">
                <a16:creationId xmlns:a16="http://schemas.microsoft.com/office/drawing/2014/main" id="{3CFBDF70-DD83-410B-8CF7-18353516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76675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63A"/>
                </a:solidFill>
              </a:defRPr>
            </a:pPr>
            <a:r>
              <a:rPr sz="1725" b="1">
                <a:solidFill>
                  <a:srgbClr val="12263A"/>
                </a:solidFill>
              </a:rPr>
              <a:t>Measure incremental repeat purchase and net recognized revenue.</a:t>
            </a:r>
          </a:p>
        </p:txBody>
      </p:sp>
      <p:sp>
        <p:nvSpPr>
          <p:cNvPr id="7" name="text-700-300">
            <a:extLst xmlns:a="http://schemas.openxmlformats.org/drawingml/2006/main">
              <a:ext uri="{FF2B5EF4-FFF2-40B4-BE49-F238E27FC236}">
                <a16:creationId xmlns:a16="http://schemas.microsoft.com/office/drawing/2014/main" id="{5EF60CFF-DD28-46BF-BF9A-E4BB94C9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AAFA9"/>
                </a:solidFill>
              </a:defRPr>
            </a:pPr>
            <a:r>
              <a:rPr sz="2400" b="1">
                <a:solidFill>
                  <a:srgbClr val="3AAFA9"/>
                </a:solidFill>
              </a:rPr>
              <a:t>3</a:t>
            </a:r>
          </a:p>
        </p:txBody>
      </p:sp>
      <p:sp>
        <p:nvSpPr>
          <p:cNvPr id="8" name="text-766-302">
            <a:extLst xmlns:a="http://schemas.openxmlformats.org/drawingml/2006/main">
              <a:ext uri="{FF2B5EF4-FFF2-40B4-BE49-F238E27FC236}">
                <a16:creationId xmlns:a16="http://schemas.microsoft.com/office/drawing/2014/main" id="{B5CA5730-552B-42B5-AD82-5B9DED2D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76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63A"/>
                </a:solidFill>
              </a:defRPr>
            </a:pPr>
            <a:r>
              <a:rPr sz="1725" b="1">
                <a:solidFill>
                  <a:srgbClr val="12263A"/>
                </a:solidFill>
              </a:rPr>
              <a:t>Monitor unsubscribe, complaints, delivery, cost, and coverage.</a:t>
            </a:r>
          </a:p>
        </p:txBody>
      </p:sp>
      <p:sp>
        <p:nvSpPr>
          <p:cNvPr id="9" name="text-700-405">
            <a:extLst xmlns:a="http://schemas.openxmlformats.org/drawingml/2006/main">
              <a:ext uri="{FF2B5EF4-FFF2-40B4-BE49-F238E27FC236}">
                <a16:creationId xmlns:a16="http://schemas.microsoft.com/office/drawing/2014/main" id="{EDEF400D-4EC4-4003-A9FE-E949155C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AAFA9"/>
                </a:solidFill>
              </a:defRPr>
            </a:pPr>
            <a:r>
              <a:rPr sz="2400" b="1">
                <a:solidFill>
                  <a:srgbClr val="3AAFA9"/>
                </a:solidFill>
              </a:rPr>
              <a:t>4</a:t>
            </a:r>
          </a:p>
        </p:txBody>
      </p:sp>
      <p:sp>
        <p:nvSpPr>
          <p:cNvPr id="10" name="text-766-407">
            <a:extLst xmlns:a="http://schemas.openxmlformats.org/drawingml/2006/main">
              <a:ext uri="{FF2B5EF4-FFF2-40B4-BE49-F238E27FC236}">
                <a16:creationId xmlns:a16="http://schemas.microsoft.com/office/drawing/2014/main" id="{CB250758-F4BD-45A0-8551-01BE60F3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766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63A"/>
                </a:solidFill>
              </a:defRPr>
            </a:pPr>
            <a:r>
              <a:rPr sz="1725" b="1">
                <a:solidFill>
                  <a:srgbClr val="12263A"/>
                </a:solidFill>
              </a:rPr>
              <a:t>Scale only when incremental value is positive and guardrails hold.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F583E-D244-455A-842D-3BC3AB14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2" name="text-58-590">
            <a:extLst xmlns:a="http://schemas.openxmlformats.org/drawingml/2006/main">
              <a:ext uri="{FF2B5EF4-FFF2-40B4-BE49-F238E27FC236}">
                <a16:creationId xmlns:a16="http://schemas.microsoft.com/office/drawing/2014/main" id="{78F1E1B3-E1D7-4DD6-B9A3-BC2D6AE8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78"/>
                </a:solidFill>
              </a:defRPr>
            </a:pPr>
            <a:r>
              <a:rPr sz="1650" b="0">
                <a:solidFill>
                  <a:srgbClr val="5D6B78"/>
                </a:solidFill>
              </a:rPr>
              <a:t>Decision owner: Growth leadership · Execution: CRM · Measurement: Customer Analytics</a:t>
            </a:r>
          </a:p>
        </p:txBody>
      </p:sp>
      <p:sp>
        <p:nvSpPr>
          <p:cNvPr id="13" name="text-56-675">
            <a:extLst xmlns:a="http://schemas.openxmlformats.org/drawingml/2006/main">
              <a:ext uri="{FF2B5EF4-FFF2-40B4-BE49-F238E27FC236}">
                <a16:creationId xmlns:a16="http://schemas.microsoft.com/office/drawing/2014/main" id="{59F436D9-A1B6-4CC4-9E17-CD6E15F2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All data and outcomes are synthetically generated for portfolio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2728772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2026-08-31T17:02:05.8150000Z</dcterms:created>
  <dcterms:modified xsi:type="dcterms:W3CDTF">2026-08-31T17:02:05.8160000Z</dcterms:modified>
</coreProperties>
</file>