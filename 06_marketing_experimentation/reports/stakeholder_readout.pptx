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5fd59ba344a12" /><Relationship Type="http://schemas.openxmlformats.org/officeDocument/2006/relationships/extended-properties" Target="/docProps/app.xml" Id="R19e6f16d8de64c67" /><Relationship Type="http://schemas.openxmlformats.org/officeDocument/2006/relationships/officeDocument" Target="/ppt/presentation.xml" Id="R1800269377f84e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a650a8dfcb44fb"/>
  </p:sldMasterIdLst>
  <p:notesMasterIdLst>
    <p:notesMasterId xmlns:r="http://schemas.openxmlformats.org/officeDocument/2006/relationships" r:id="R2afe2542d18c4f58"/>
  </p:notesMasterIdLst>
  <p:sldIdLst>
    <p:sldId xmlns:r="http://schemas.openxmlformats.org/officeDocument/2006/relationships" id="256" r:id="Rbc9105ab885e49c6"/>
    <p:sldId xmlns:r="http://schemas.openxmlformats.org/officeDocument/2006/relationships" id="257" r:id="Ra4b00b70717f4cd8"/>
    <p:sldId xmlns:r="http://schemas.openxmlformats.org/officeDocument/2006/relationships" id="258" r:id="Ra408f68d087d4d0b"/>
    <p:sldId xmlns:r="http://schemas.openxmlformats.org/officeDocument/2006/relationships" id="259" r:id="R4b84630ca02a48a2"/>
    <p:sldId xmlns:r="http://schemas.openxmlformats.org/officeDocument/2006/relationships" id="260" r:id="R6fc42ecb460543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99934c53d4857" /><Relationship Type="http://schemas.openxmlformats.org/officeDocument/2006/relationships/slideMaster" Target="/ppt/slideMasters/slideMaster1.xml" Id="R2ba650a8dfcb44fb" /><Relationship Type="http://schemas.openxmlformats.org/officeDocument/2006/relationships/notesMaster" Target="/ppt/notesMasters/notesMaster1.xml" Id="R2afe2542d18c4f58" /><Relationship Type="http://schemas.openxmlformats.org/officeDocument/2006/relationships/presProps" Target="/ppt/presProps.xml" Id="R5921a0807a7a46cf" /><Relationship Type="http://schemas.openxmlformats.org/officeDocument/2006/relationships/tableStyles" Target="/ppt/tableStyles.xml" Id="Raacc323ad13d4542" /><Relationship Type="http://schemas.openxmlformats.org/officeDocument/2006/relationships/slide" Target="/ppt/slides/slide1.xml" Id="Rbc9105ab885e49c6" /><Relationship Type="http://schemas.openxmlformats.org/officeDocument/2006/relationships/slide" Target="/ppt/slides/slide2.xml" Id="Ra4b00b70717f4cd8" /><Relationship Type="http://schemas.openxmlformats.org/officeDocument/2006/relationships/slide" Target="/ppt/slides/slide3.xml" Id="Ra408f68d087d4d0b" /><Relationship Type="http://schemas.openxmlformats.org/officeDocument/2006/relationships/slide" Target="/ppt/slides/slide4.xml" Id="R4b84630ca02a48a2" /><Relationship Type="http://schemas.openxmlformats.org/officeDocument/2006/relationships/slide" Target="/ppt/slides/slide5.xml" Id="R6fc42ecb4605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3bb1ad023d49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686a49ff7448af" /><Relationship Type="http://schemas.openxmlformats.org/officeDocument/2006/relationships/notesMaster" Target="/ppt/notesMasters/notesMaster1.xml" Id="Rfcb269f9c24445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298c1825454f0b" /><Relationship Type="http://schemas.openxmlformats.org/officeDocument/2006/relationships/notesMaster" Target="/ppt/notesMasters/notesMaster1.xml" Id="R32691a9ccc2041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e762db4a304b3d" /><Relationship Type="http://schemas.openxmlformats.org/officeDocument/2006/relationships/notesMaster" Target="/ppt/notesMasters/notesMaster1.xml" Id="Re67a644cb3ff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226e8802724c57" /><Relationship Type="http://schemas.openxmlformats.org/officeDocument/2006/relationships/notesMaster" Target="/ppt/notesMasters/notesMaster1.xml" Id="R826a134de90748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72f5a37928448b" /><Relationship Type="http://schemas.openxmlformats.org/officeDocument/2006/relationships/notesMaster" Target="/ppt/notesMasters/notesMaster1.xml" Id="R4e8c6fb98897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https://github.com/laura-rivera-sancho/analytics-standard-framework/blob/main/07_marketing_experimentation/case_study/expected_results.md</a:t>
            </a:r>
          </a:p>
          <a:p xmlns:a="http://schemas.openxmlformats.org/drawingml/2006/main">
            <a:r>
              <a:t>- https://github.com/laura-rivera-sancho/analytics-standard-framework/blob/main/07_marketing_experimentation/reports/stakeholder_readout.md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https://github.com/laura-rivera-sancho/analytics-standard-framework/blob/main/07_marketing_experimentation/case_study/expected_results.md</a:t>
            </a:r>
          </a:p>
          <a:p xmlns:a="http://schemas.openxmlformats.org/drawingml/2006/main">
            <a:r>
              <a:t>- https://github.com/laura-rivera-sancho/analytics-standard-framework/blob/main/07_marketing_experimentation/methodology.md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https://github.com/laura-rivera-sancho/analytics-standard-framework/blob/main/07_marketing_experimentation/case_study/expected_results.md</a:t>
            </a:r>
          </a:p>
          <a:p xmlns:a="http://schemas.openxmlformats.org/drawingml/2006/main">
            <a:r>
              <a:t>- https://github.com/laura-rivera-sancho/analytics-standard-framework/blob/main/07_marketing_experimentation/src/analyze_marketing_experiments.py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https://github.com/laura-rivera-sancho/analytics-standard-framework/blob/main/07_marketing_experimentation/case_study/expected_results.md</a:t>
            </a:r>
          </a:p>
          <a:p xmlns:a="http://schemas.openxmlformats.org/drawingml/2006/main">
            <a:r>
              <a:t>- https://github.com/laura-rivera-sancho/analytics-standard-framework/blob/main/07_marketing_experimentation/reports/executive_summary.png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https://github.com/laura-rivera-sancho/analytics-standard-framework/blob/main/07_marketing_experimentation/reports/stakeholder_readout.md</a:t>
            </a:r>
          </a:p>
          <a:p xmlns:a="http://schemas.openxmlformats.org/drawingml/2006/main">
            <a:r>
              <a:t>- https://github.com/laura-rivera-sancho/analytics-standard-framework/blob/main/07_marketing_experimentation/methodology.md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9d13312a445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64ded233b14caf" /><Relationship Type="http://schemas.openxmlformats.org/officeDocument/2006/relationships/slideLayout" Target="/ppt/slideLayouts/slideLayout1.xml" Id="R12384f8c409940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384f8c409940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e716865c740d6" /><Relationship Type="http://schemas.openxmlformats.org/officeDocument/2006/relationships/notesSlide" Target="/ppt/notesSlides/notesSlide1.xml" Id="R45c150abcdb74a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40bbecef84b94" /><Relationship Type="http://schemas.openxmlformats.org/officeDocument/2006/relationships/notesSlide" Target="/ppt/notesSlides/notesSlide2.xml" Id="Rb5dabd4d0f13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2c53b673042a3" /><Relationship Type="http://schemas.openxmlformats.org/officeDocument/2006/relationships/notesSlide" Target="/ppt/notesSlides/notesSlide3.xml" Id="R9d186cdec69148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db0b984bf429a" /><Relationship Type="http://schemas.openxmlformats.org/officeDocument/2006/relationships/notesSlide" Target="/ppt/notesSlides/notesSlide4.xml" Id="R8f950c13613f41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f998d88ee4ea3" /><Relationship Type="http://schemas.openxmlformats.org/officeDocument/2006/relationships/notesSlide" Target="/ppt/notesSlides/notesSlide5.xml" Id="Rf1810616ad4440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0147C-9B60-48D7-BB4C-4DF9F042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50E8C-3B23-40DC-A083-DBD2CEB1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EXPERIMENTATION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1C855-6C6D-4BAA-AB8B-E5F70574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8F718-EBE4-4F04-823C-1911EC73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8"/>
                </a:solidFill>
              </a:defRPr>
            </a:pPr>
            <a:r>
              <a:rPr sz="825" b="0">
                <a:solidFill>
                  <a:srgbClr val="5D6B78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C8C3F-FC9C-454A-AAF5-C391B1DA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048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2263A"/>
                </a:solidFill>
              </a:defRPr>
            </a:pPr>
            <a:r>
              <a:rPr sz="4350" b="1">
                <a:solidFill>
                  <a:srgbClr val="12263A"/>
                </a:solidFill>
              </a:rPr>
              <a:t>Advance one treatment</a:t>
            </a:r>
          </a:p>
          <a:p xmlns:a="http://schemas.openxmlformats.org/drawingml/2006/main">
            <a:pPr algn="l">
              <a:defRPr sz="4350" b="1">
                <a:solidFill>
                  <a:srgbClr val="12263A"/>
                </a:solidFill>
              </a:defRPr>
            </a:pPr>
            <a:r>
              <a:rPr sz="4350" b="1">
                <a:solidFill>
                  <a:srgbClr val="12263A"/>
                </a:solidFill>
              </a:rPr>
              <a:t>to margin 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6BFB5-692E-4393-8FEF-9AA30BFD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76F51"/>
                </a:solidFill>
              </a:defRPr>
            </a:pPr>
            <a:r>
              <a:rPr sz="1800" b="1">
                <a:solidFill>
                  <a:srgbClr val="E76F51"/>
                </a:solidFill>
              </a:rPr>
              <a:t>Do not approve broad rollout yet.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C0DF5-EAF9-4FC7-BF7F-F97587B2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78"/>
                </a:solidFill>
              </a:defRPr>
            </a:pPr>
            <a:r>
              <a:rPr sz="1425" b="0">
                <a:solidFill>
                  <a:srgbClr val="5D6B78"/>
                </a:solidFill>
              </a:rPr>
              <a:t>Harbor &amp; Pine · split test + 2 × 2 × 2 factorial · synthetic portfolio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8BF22-55CF-4DBA-B2AD-DCB94AAA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3105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28FEE-1085-495D-B444-4B1EF1AF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E6F95"/>
                </a:solidFill>
              </a:defRPr>
            </a:pPr>
            <a:r>
              <a:rPr sz="3450" b="1">
                <a:solidFill>
                  <a:srgbClr val="2E6F95"/>
                </a:solidFill>
              </a:rPr>
              <a:t>+2.67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FCCC5-A7E8-4E37-8E01-CF299FA5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47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conversion vs holdout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7C819-4708-4386-9E56-FBA1C8A8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0037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557F7-F67E-44D5-8DEC-0BCF2535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AAFA9"/>
                </a:solidFill>
              </a:defRPr>
            </a:pPr>
            <a:r>
              <a:rPr sz="2850" b="1">
                <a:solidFill>
                  <a:srgbClr val="3AAFA9"/>
                </a:solidFill>
              </a:rPr>
              <a:t>0.027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F0E46-0CA4-4534-970B-ADA258CC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29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Holm-adjusted p-value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C4D391-C92C-4CDC-9F22-2176C6AC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6F51"/>
                </a:solidFill>
              </a:defRPr>
            </a:pPr>
            <a:r>
              <a:rPr sz="2250" b="1">
                <a:solidFill>
                  <a:srgbClr val="E76F51"/>
                </a:solidFill>
              </a:rPr>
              <a:t>+$0.16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5CE96-84FA-46F9-B0A0-7951BB99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96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margin/customer; CI includes downside</a:t>
            </a:r>
          </a:p>
        </p:txBody>
      </p:sp>
    </p:spTree>
    <p:extLst>
      <p:ext uri="{BB962C8B-B14F-4D97-AF65-F5344CB8AC3E}">
        <p14:creationId xmlns:p14="http://schemas.microsoft.com/office/powerpoint/2010/main" val="1653650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BE844C-F9F4-4F0A-9F8B-D10E0D24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E20C2-2854-4CE4-AD22-4C30729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VALIDITY AND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5238D-8FB1-4720-B703-74A289F4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D42A7-B54F-4A70-ADA5-24558F28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8"/>
                </a:solidFill>
              </a:defRPr>
            </a:pPr>
            <a:r>
              <a:rPr sz="825" b="0">
                <a:solidFill>
                  <a:srgbClr val="5D6B7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4ADA1-0960-4965-88A0-37BE6F57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Integrity passes; sensitivity depends on the estimand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417CC-0660-4352-8C8B-8A17E297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Assignment balance is healthy, while the split test remains underpowered for the practical threshold.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2BB94-4BD4-4806-B83F-A255265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3333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0FA633-B76C-4B28-87B9-040314B8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E6F95"/>
                </a:solidFill>
              </a:defRPr>
            </a:pPr>
            <a:r>
              <a:rPr sz="3000" b="1">
                <a:solidFill>
                  <a:srgbClr val="2E6F95"/>
                </a:solidFill>
              </a:rPr>
              <a:t>25,942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22B03-786A-478A-9A3F-A1F2471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validated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37CAE-9351-4F61-95A6-86091049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38375"/>
            <a:ext cx="3333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0D3FE-FA56-401B-AA62-7B284463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76F51"/>
                </a:solidFill>
              </a:defRPr>
            </a:pPr>
            <a:r>
              <a:rPr sz="3000" b="1">
                <a:solidFill>
                  <a:srgbClr val="E76F51"/>
                </a:solidFill>
              </a:rPr>
              <a:t>78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5241C-76BF-4D21-B3CA-96ED33D0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records quarantined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B778E-DA35-404F-9ED8-829C8157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38375"/>
            <a:ext cx="3333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2E151-F11D-443A-8246-32063625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AAFA9"/>
                </a:solidFill>
              </a:defRPr>
            </a:pPr>
            <a:r>
              <a:rPr sz="3000" b="1">
                <a:solidFill>
                  <a:srgbClr val="3AAFA9"/>
                </a:solidFill>
              </a:rPr>
              <a:t>PASS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72BC6-CA23-4E66-80AA-EADF96A9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SRM check in both designs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24CA28-8716-4CCB-9406-934B6D22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63A"/>
                </a:solidFill>
              </a:defRPr>
            </a:pPr>
            <a:r>
              <a:rPr sz="1275" b="1">
                <a:solidFill>
                  <a:srgbClr val="12263A"/>
                </a:solidFill>
              </a:rPr>
              <a:t>Observed sample versus planned requirement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7AAE0-EEEE-4BE4-9530-293FD2B8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29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Split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82264-8FE5-4739-A783-387AB9BA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E5602-E3CC-449B-BF74-0B50077D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76750"/>
            <a:ext cx="338316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24129-2F76-4367-BF37-1011EDF8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7,989 valid · MDE 1.83 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6DA78-795A-419F-9F81-A515ACE0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815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Factorial main effects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C7B32F-D0B3-4DFB-9891-92C42356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57FF4-CC07-4C96-A639-BD5E7E8C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029200"/>
            <a:ext cx="487569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8E3DE-C796-4D21-8F9A-0E41F3A8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53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15,957 pooled · MDE 1.21 pp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AE3513-4DAF-47A0-846A-2A058F982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263A"/>
                </a:solidFill>
              </a:defRPr>
            </a:pPr>
            <a:r>
              <a:rPr sz="1200" b="1">
                <a:solidFill>
                  <a:srgbClr val="12263A"/>
                </a:solidFill>
              </a:rPr>
              <a:t>Cell vs holdout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05B109-8BEE-4FB4-AD72-BBE2D0C3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816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48708-3697-43EA-944B-3FDCE836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8165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F7DEBC-85D1-4ECD-837D-8A6F192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3,988 pooled · MDE 2.43 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8AB4D6-DC7E-4315-A6C3-4A6E7925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6F51"/>
                </a:solidFill>
              </a:defRPr>
            </a:pPr>
            <a:r>
              <a:rPr sz="1200" b="1">
                <a:solidFill>
                  <a:srgbClr val="E76F51"/>
                </a:solidFill>
              </a:rPr>
              <a:t>Decision implication: the split test cannot reliably resolve the pre-set 1.50 pp business threshold.</a:t>
            </a:r>
          </a:p>
        </p:txBody>
      </p:sp>
    </p:spTree>
    <p:extLst>
      <p:ext uri="{BB962C8B-B14F-4D97-AF65-F5344CB8AC3E}">
        <p14:creationId xmlns:p14="http://schemas.microsoft.com/office/powerpoint/2010/main" val="1164815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116F58-3182-49A8-85C9-98155254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6CAFB8-9A42-471B-8753-45D8A1FA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FACTORIAL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0C301-3546-4D53-9CE1-F9878A52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F4BF3-C9F4-4B62-A29B-7ABB2D05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8"/>
                </a:solidFill>
              </a:defRPr>
            </a:pPr>
            <a:r>
              <a:rPr sz="825" b="0">
                <a:solidFill>
                  <a:srgbClr val="5D6B7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14B44-FFF1-4240-B6BC-3AD8647A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Discount is the only supported factor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3C64C-B784-4FDE-B026-CD3EB02A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Message and channel effects cross zero; no tested interaction survives multiplicity control.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E566E-8416-4D13-B53E-ADD9BE4B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38375"/>
            <a:ext cx="9525" cy="3190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6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9C089-1F6F-4D62-A3E3-B8529A37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149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55666D-F847-423C-97F3-4F9E4239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-1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9B227-401A-4D21-9E4D-C6443E2C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3149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09F00-AD38-4167-A62B-2375894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4768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768BC-7AB2-4A9E-8812-8B6B85AB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3149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9C1398-E112-4CD9-8936-7DBC5298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6230E2-58FD-4BBD-A082-C5516C20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314950"/>
            <a:ext cx="95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AA6B4-77BD-45A2-B897-74043FB5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EE7B91-2E0C-45B1-B149-4D09890F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Main effect (percentage points)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BED137-09AF-4B83-8675-A58F3B0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431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8CFC2-00C5-45D1-993B-B2B32999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910" y="2562225"/>
            <a:ext cx="2914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12D945-61F5-4C86-BA93-BF48E1E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714625"/>
            <a:ext cx="305181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7423B-D8C0-44CA-9606-093F75FB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" y="26289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CAFC9-F6CB-47A4-8AA9-3BA73008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815" y="262890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03B8B5-4A72-4AFE-B67D-5CEB278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5431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B78"/>
                </a:solidFill>
              </a:defRPr>
            </a:pPr>
            <a:r>
              <a:rPr sz="1575" b="1">
                <a:solidFill>
                  <a:srgbClr val="5D6B78"/>
                </a:solidFill>
              </a:rPr>
              <a:t>-0.17 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BC37C0-6B17-41D6-8E54-0C2D4372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Offer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79B20-AD5D-4474-9B3A-5F0BD760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62350"/>
            <a:ext cx="234886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D45CB2-EFA0-4DE9-83AB-3782458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190" y="3714750"/>
            <a:ext cx="306895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77BC4-B9A7-4ED5-AAD6-F9E939A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190" y="36290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BF4C9F-425F-4C59-8DA7-08434B77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145" y="3629025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674B67-D928-46FF-B81B-903969ED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43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AAFA9"/>
                </a:solidFill>
              </a:defRPr>
            </a:pPr>
            <a:r>
              <a:rPr sz="1575" b="1">
                <a:solidFill>
                  <a:srgbClr val="3AAFA9"/>
                </a:solidFill>
              </a:rPr>
              <a:t>+1.37 pp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F6D77-B371-4760-BAFF-D101D6FA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4342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263A"/>
                </a:solidFill>
              </a:defRPr>
            </a:pPr>
            <a:r>
              <a:rPr sz="1650" b="1">
                <a:solidFill>
                  <a:srgbClr val="12263A"/>
                </a:solidFill>
              </a:rPr>
              <a:t>Channel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B138B8-F77B-4C20-A5CD-3A10BC0D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62475"/>
            <a:ext cx="6000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BE74B-5B21-44D5-87B3-92015F36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" y="4714875"/>
            <a:ext cx="305181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920ACA-6942-450E-84EF-13D01872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545" y="46291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FCDCF4-1DCC-45CB-8883-F2D39989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355" y="4629150"/>
            <a:ext cx="19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B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5643F9-8172-4ED3-A026-6C696DE2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434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B78"/>
                </a:solidFill>
              </a:defRPr>
            </a:pPr>
            <a:r>
              <a:rPr sz="1575" b="1">
                <a:solidFill>
                  <a:srgbClr val="5D6B78"/>
                </a:solidFill>
              </a:rPr>
              <a:t>+0.35 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5FF7DC-AFD9-49E3-921F-C59BD282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43125"/>
            <a:ext cx="2476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B52B1-2238-4FEC-B1DD-3865577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03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263A"/>
                </a:solidFill>
              </a:defRPr>
            </a:pPr>
            <a:r>
              <a:rPr sz="1725" b="1">
                <a:solidFill>
                  <a:srgbClr val="12263A"/>
                </a:solidFill>
              </a:rPr>
              <a:t>Interpretation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A0D444-0022-4E5B-9BB4-DAA94653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AAFA9"/>
                </a:solidFill>
              </a:defRPr>
            </a:pPr>
            <a:r>
              <a:rPr sz="1875" b="1">
                <a:solidFill>
                  <a:srgbClr val="3AAFA9"/>
                </a:solidFill>
              </a:rPr>
              <a:t>10% discount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B71D66-470A-41AE-9909-0A00DB6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is the only factor with a credible conversion effect after Holm correction.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186658-A4C8-4821-A811-63DE9A35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62450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7EEE4E-B8C9-4E3E-9741-F292D28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263A"/>
                </a:solidFill>
              </a:defRPr>
            </a:pPr>
            <a:r>
              <a:rPr sz="1350" b="1">
                <a:solidFill>
                  <a:srgbClr val="12263A"/>
                </a:solidFill>
              </a:rPr>
              <a:t>No evidence to add SMS</a:t>
            </a:r>
          </a:p>
        </p:txBody>
      </p:sp>
    </p:spTree>
    <p:extLst>
      <p:ext uri="{BB962C8B-B14F-4D97-AF65-F5344CB8AC3E}">
        <p14:creationId xmlns:p14="http://schemas.microsoft.com/office/powerpoint/2010/main" val="157324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0F3D38-123F-4DE5-9718-8CC84B01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15398-85FF-4BB1-844D-6EA6D058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WINNING TREATMENT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61DA4-6DDA-4751-947F-B1501E6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D9C50-4EB2-4E92-8FA9-B1F689B3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8"/>
                </a:solidFill>
              </a:defRPr>
            </a:pPr>
            <a:r>
              <a:rPr sz="825" b="0">
                <a:solidFill>
                  <a:srgbClr val="5D6B7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37F35-0E77-4DE0-B765-AAA2DBC3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One complete treatment survives family-wise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24D4F-CB59-4D4B-86F5-7C93E3FB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Urgency-led message + 10% discount + email-only leads conversion; economics remain unresolved.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8F6420-0605-490D-AF09-456B33A7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Urgency · 10% · Email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4BCF03-A247-4FB9-AB69-1A4F030F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38147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ABAC7-5E14-44F6-B5A6-24F1F537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20764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76F51"/>
                </a:solidFill>
              </a:defRPr>
            </a:pPr>
            <a:r>
              <a:rPr sz="1050" b="1">
                <a:solidFill>
                  <a:srgbClr val="E76F51"/>
                </a:solidFill>
              </a:rPr>
              <a:t>+2.67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6E1A6E-5112-4ED4-8F87-DD9954EE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Benefit · 10% · E+S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8CE55-9B9D-460F-A3F0-AA19440F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590800"/>
            <a:ext cx="2743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6C0EE-D43E-413E-81B5-4D25F776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33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+1.92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1B6BD-5AEC-4F2D-A0A2-4D731FD1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Urgency · 10% · E+S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EF7F4A-6AB3-4B8F-86AB-E82CDC65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52888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D4D86-2492-4CC5-B929-73E986BB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0738" y="2990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+1.77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A5783-DBE3-4C95-B4C4-6A87A3C5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Benefit · 10% · Email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817262-3483-454B-865F-415AFFED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C870B-DC02-40D7-9804-75E7FF2B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48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+1.60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9DF41-070D-455A-AEF2-C4433783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Benefit · Ship · E+S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3C008-8870-44CE-BC4B-A6DCBCDA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62400"/>
            <a:ext cx="16859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CE59F-E32C-4258-88F4-7FA2217E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05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+1.18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C038C7-D279-46AB-8E2B-B1575A3D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Urgency · Ship · E+S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FC766-F4FE-4B3C-9393-DFD1A79A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19600"/>
            <a:ext cx="15287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99386B-D1A7-4CCC-89C3-575DA50C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0613" y="43624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+1.07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DF7983-85A9-45C1-A4BE-FC8EBFE9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006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Benefit · Ship · Email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96247-1D87-4C17-BF2E-36EEFE82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76800"/>
            <a:ext cx="28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45469-92A9-4DEF-B292-5D807888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819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+0.20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4F69AB-78BD-41DB-95DD-EDDA86C6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Urgency · Ship · Email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ADA967-9488-44B3-95EF-97C947F2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334000"/>
            <a:ext cx="71438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5932B5-2E8D-4944-8D17-274FEFA0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52768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+0.05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2C822A-1F6C-4F1E-BE00-6959099C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9245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8"/>
                </a:solidFill>
              </a:defRPr>
            </a:pPr>
            <a:r>
              <a:rPr sz="1050" b="0">
                <a:solidFill>
                  <a:srgbClr val="5D6B78"/>
                </a:solidFill>
              </a:rPr>
              <a:t>Conversion effect vs holdout (pp)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E6B54C-5CB5-469C-B814-0F09DD50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88FB0-EB83-4CA1-B140-7EF3E326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050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76F51"/>
                </a:solidFill>
              </a:defRPr>
            </a:pPr>
            <a:r>
              <a:rPr sz="2550" b="1">
                <a:solidFill>
                  <a:srgbClr val="E76F51"/>
                </a:solidFill>
              </a:rPr>
              <a:t>+2.67 pp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1DD90C-D920-47BA-A3FC-D4367E1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57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8"/>
                </a:solidFill>
              </a:defRPr>
            </a:pPr>
            <a:r>
              <a:rPr sz="1200" b="0">
                <a:solidFill>
                  <a:srgbClr val="5D6B78"/>
                </a:solidFill>
              </a:rPr>
              <a:t>95% CI +0.88 to +4.45 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3E6435-D784-4D21-B171-04D19D91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57DBA6-B71B-44FB-939A-A24637D3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E6F95"/>
                </a:solidFill>
              </a:defRPr>
            </a:pPr>
            <a:r>
              <a:rPr sz="2550" b="1">
                <a:solidFill>
                  <a:srgbClr val="2E6F95"/>
                </a:solidFill>
              </a:rPr>
              <a:t>+$0.16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B098EE-4C77-4337-A8F7-78642A3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margin/customer · 95% CI −$1.02 to +$1.33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24C5DD-8FEA-49D8-B50F-2895E546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81550"/>
            <a:ext cx="3048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2D1C96-ADD1-4053-BE57-E7E96872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720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AAFA9"/>
                </a:solidFill>
              </a:defRPr>
            </a:pPr>
            <a:r>
              <a:rPr sz="1875" b="1">
                <a:solidFill>
                  <a:srgbClr val="3AAFA9"/>
                </a:solidFill>
              </a:rPr>
              <a:t>ALL 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24996E-6628-4893-B883-3EC6D3FC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B78"/>
                </a:solidFill>
              </a:defRPr>
            </a:pPr>
            <a:r>
              <a:rPr sz="1125" b="0">
                <a:solidFill>
                  <a:srgbClr val="5D6B78"/>
                </a:solidFill>
              </a:rPr>
              <a:t>unsubscribe · complaints · refunds</a:t>
            </a:r>
          </a:p>
        </p:txBody>
      </p:sp>
    </p:spTree>
    <p:extLst>
      <p:ext uri="{BB962C8B-B14F-4D97-AF65-F5344CB8AC3E}">
        <p14:creationId xmlns:p14="http://schemas.microsoft.com/office/powerpoint/2010/main" val="257327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0C90B-6666-41B5-9F99-B24D31FB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ANALYTICS STANDARD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E4B89-497C-4752-81C1-DEB95ED3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B78"/>
                </a:solidFill>
              </a:defRPr>
            </a:pPr>
            <a:r>
              <a:rPr sz="900" b="1">
                <a:solidFill>
                  <a:srgbClr val="5D6B78"/>
                </a:solidFill>
              </a:rPr>
              <a:t>RECOMMENDED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A9055-F5A3-4CF7-9DAD-45E60642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5C093-C310-473A-8573-369EC843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78"/>
                </a:solidFill>
              </a:defRPr>
            </a:pPr>
            <a:r>
              <a:rPr sz="825" b="0">
                <a:solidFill>
                  <a:srgbClr val="5D6B7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796D8-AADA-43FE-985E-42447576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620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263A"/>
                </a:solidFill>
              </a:defRPr>
            </a:pPr>
            <a:r>
              <a:rPr sz="2850" b="1">
                <a:solidFill>
                  <a:srgbClr val="12263A"/>
                </a:solidFill>
              </a:rPr>
              <a:t>Run a fresh controlled margin-validation stage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1F195-A8AE-4FCF-BBDB-FEFB8849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B78"/>
                </a:solidFill>
              </a:defRPr>
            </a:pPr>
            <a:r>
              <a:rPr sz="1350" b="0">
                <a:solidFill>
                  <a:srgbClr val="5D6B78"/>
                </a:solidFill>
              </a:rPr>
              <a:t>Preserve the causal design, validate economics, and require a human rollout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88B76-D88B-4910-A721-0E1FD1B3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D62ED-E018-4038-95FB-F2014311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F95"/>
                </a:solidFill>
              </a:defRPr>
            </a:pPr>
            <a:r>
              <a:rPr sz="2100" b="1">
                <a:solidFill>
                  <a:srgbClr val="2E6F9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CA39B-2EBA-4868-97D7-3E33D6BB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A"/>
                </a:solidFill>
              </a:defRPr>
            </a:pPr>
            <a:r>
              <a:rPr sz="1950" b="1">
                <a:solidFill>
                  <a:srgbClr val="12263A"/>
                </a:solidFill>
              </a:rPr>
              <a:t>Re-randomize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38901-7059-4F5D-BC01-06D59516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Winner vs no-contact holdout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20D56-E0D3-4BE1-A994-17C5133B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4064CF-AF4E-4594-821F-32959BB7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Use a fresh eligible audience; keep allocation and exposure immutable.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A804E-B7EA-48AB-8933-246A2341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171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C8D3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95C34-057E-45B4-B8E0-E2884B08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AAFA9"/>
                </a:solidFill>
              </a:defRPr>
            </a:pPr>
            <a:r>
              <a:rPr sz="2100" b="1">
                <a:solidFill>
                  <a:srgbClr val="3AAFA9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A7BAC-9BA9-4BEC-BBCF-C2CC9403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A"/>
                </a:solidFill>
              </a:defRPr>
            </a:pPr>
            <a:r>
              <a:rPr sz="1950" b="1">
                <a:solidFill>
                  <a:srgbClr val="12263A"/>
                </a:solidFill>
              </a:rPr>
              <a:t>Measure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9C8E7-A8DC-44FC-8F18-657A4DA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448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Contribution margin 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74108-81D9-494B-8B97-1DAB708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95750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581F92-4D54-4B81-912D-3AE5DD22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24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Pre-register conversion, margin, unsubscribe, complaints, and refunds.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1C756D-FC90-4958-8A8B-BADBA6F8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71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3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AE317-4227-414B-9979-2E12A7A8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812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6F95"/>
                </a:solidFill>
              </a:defRPr>
            </a:pPr>
            <a:r>
              <a:rPr sz="2100" b="1">
                <a:solidFill>
                  <a:srgbClr val="2E6F95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5B95F9-2281-490F-9BF8-C3705A7A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527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263A"/>
                </a:solidFill>
              </a:defRPr>
            </a:pPr>
            <a:r>
              <a:rPr sz="1950" b="1">
                <a:solidFill>
                  <a:srgbClr val="12263A"/>
                </a:solidFill>
              </a:rPr>
              <a:t>Decide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637CC3-B8B8-4F16-A125-EC424EB9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6F51"/>
                </a:solidFill>
              </a:defRPr>
            </a:pPr>
            <a:r>
              <a:rPr sz="1350" b="1">
                <a:solidFill>
                  <a:srgbClr val="E76F51"/>
                </a:solidFill>
              </a:rPr>
              <a:t>Human approval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00DCB1-1FE0-45BF-B908-5B359CC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714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7C1F3D-DC9C-4125-A1CF-4F148688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243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Scale only if margin clears its threshold and every guardrail remains acceptable.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7BE88-3D9A-456B-9067-98CEB351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524500"/>
            <a:ext cx="742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05B0F-96F8-4EE6-AF60-490D8A70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5457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7C334A-0EC3-40BD-B75B-D984013C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457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1DEB1-B119-4B94-8453-DC642CAF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4578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CF302-D2EA-4106-8B3C-011EDECD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263A"/>
                </a:solidFill>
              </a:defRPr>
            </a:pPr>
            <a:r>
              <a:rPr sz="1275" b="1">
                <a:solidFill>
                  <a:srgbClr val="12263A"/>
                </a:solidFill>
              </a:rPr>
              <a:t>Decision boundary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5193A-D791-453E-8FC7-2E23F03D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924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B78"/>
                </a:solidFill>
              </a:defRPr>
            </a:pPr>
            <a:r>
              <a:rPr sz="1275" b="0">
                <a:solidFill>
                  <a:srgbClr val="5D6B78"/>
                </a:solidFill>
              </a:rPr>
              <a:t>No broad rollout while the margin interval still includes downside.</a:t>
            </a:r>
          </a:p>
        </p:txBody>
      </p:sp>
    </p:spTree>
    <p:extLst>
      <p:ext uri="{BB962C8B-B14F-4D97-AF65-F5344CB8AC3E}">
        <p14:creationId xmlns:p14="http://schemas.microsoft.com/office/powerpoint/2010/main" val="16433929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2026-09-01T01:10:46.6450000Z</dcterms:created>
  <dcterms:modified xsi:type="dcterms:W3CDTF">2026-09-01T01:10:46.6450000Z</dcterms:modified>
</coreProperties>
</file>