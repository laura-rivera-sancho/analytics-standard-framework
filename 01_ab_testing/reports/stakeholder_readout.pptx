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b07ce9cda4d1e" /><Relationship Type="http://schemas.openxmlformats.org/officeDocument/2006/relationships/extended-properties" Target="/docProps/app.xml" Id="R0912fa0894cb41b8" /><Relationship Type="http://schemas.openxmlformats.org/officeDocument/2006/relationships/officeDocument" Target="/ppt/presentation.xml" Id="R64173a9e3be94f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90d9326514649"/>
  </p:sldMasterIdLst>
  <p:notesMasterIdLst>
    <p:notesMasterId xmlns:r="http://schemas.openxmlformats.org/officeDocument/2006/relationships" r:id="Ra5ec3b0047db4e36"/>
  </p:notesMasterIdLst>
  <p:sldIdLst>
    <p:sldId xmlns:r="http://schemas.openxmlformats.org/officeDocument/2006/relationships" id="256" r:id="Re488264c6c444f42"/>
    <p:sldId xmlns:r="http://schemas.openxmlformats.org/officeDocument/2006/relationships" id="257" r:id="R7881b6af45774445"/>
    <p:sldId xmlns:r="http://schemas.openxmlformats.org/officeDocument/2006/relationships" id="258" r:id="R92e7581bad1d404e"/>
    <p:sldId xmlns:r="http://schemas.openxmlformats.org/officeDocument/2006/relationships" id="259" r:id="R0444aefb9eba43f6"/>
    <p:sldId xmlns:r="http://schemas.openxmlformats.org/officeDocument/2006/relationships" id="260" r:id="Re8ffd1ce2c2f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fdaf827534041" /><Relationship Type="http://schemas.openxmlformats.org/officeDocument/2006/relationships/slideMaster" Target="/ppt/slideMasters/slideMaster1.xml" Id="R33190d9326514649" /><Relationship Type="http://schemas.openxmlformats.org/officeDocument/2006/relationships/notesMaster" Target="/ppt/notesMasters/notesMaster1.xml" Id="Ra5ec3b0047db4e36" /><Relationship Type="http://schemas.openxmlformats.org/officeDocument/2006/relationships/presProps" Target="/ppt/presProps.xml" Id="Reb128c86c3d8437f" /><Relationship Type="http://schemas.openxmlformats.org/officeDocument/2006/relationships/tableStyles" Target="/ppt/tableStyles.xml" Id="Rdd4ea43e2e1b4be7" /><Relationship Type="http://schemas.openxmlformats.org/officeDocument/2006/relationships/slide" Target="/ppt/slides/slide1.xml" Id="Re488264c6c444f42" /><Relationship Type="http://schemas.openxmlformats.org/officeDocument/2006/relationships/slide" Target="/ppt/slides/slide2.xml" Id="R7881b6af45774445" /><Relationship Type="http://schemas.openxmlformats.org/officeDocument/2006/relationships/slide" Target="/ppt/slides/slide3.xml" Id="R92e7581bad1d404e" /><Relationship Type="http://schemas.openxmlformats.org/officeDocument/2006/relationships/slide" Target="/ppt/slides/slide4.xml" Id="R0444aefb9eba43f6" /><Relationship Type="http://schemas.openxmlformats.org/officeDocument/2006/relationships/slide" Target="/ppt/slides/slide5.xml" Id="Re8ffd1ce2c2f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82c8e22314d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8c5c1ff5b34c4b" /><Relationship Type="http://schemas.openxmlformats.org/officeDocument/2006/relationships/notesMaster" Target="/ppt/notesMasters/notesMaster1.xml" Id="Rb484380cab7f43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bf2e46f7d41fa" /><Relationship Type="http://schemas.openxmlformats.org/officeDocument/2006/relationships/notesMaster" Target="/ppt/notesMasters/notesMaster1.xml" Id="R8583c16155b74d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9c082f3d24254" /><Relationship Type="http://schemas.openxmlformats.org/officeDocument/2006/relationships/notesMaster" Target="/ppt/notesMasters/notesMaster1.xml" Id="R806de1ff11c643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db252befa04e8c" /><Relationship Type="http://schemas.openxmlformats.org/officeDocument/2006/relationships/notesMaster" Target="/ppt/notesMasters/notesMaster1.xml" Id="R08d88dcba821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448ead01ec46aa" /><Relationship Type="http://schemas.openxmlformats.org/officeDocument/2006/relationships/notesMaster" Target="/ppt/notesMasters/notesMaster1.xml" Id="Rfebbbb8d6895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the analysis supports and state that all data and results are synthetic.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- 01_ab_testing/case_study/expected_results.md</a:t>
            </a:r>
          </a:p>
          <a:p xmlns:a="http://schemas.openxmlformats.org/drawingml/2006/main">
            <a:r>
              <a:t>- 01_ab_testing/case_study/business_case.md</a:t>
            </a:r>
          </a:p>
          <a:p xmlns:a="http://schemas.openxmlformats.org/drawingml/2006/main">
            <a:r>
              <a:t>- 01_ab_testing/src/analyze_experiment.py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recommendation, then explain the three decision metrics. Keep methodological detail for later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- 01_ab_testing/case_study/expected_results.md</a:t>
            </a:r>
          </a:p>
          <a:p xmlns:a="http://schemas.openxmlformats.org/drawingml/2006/main">
            <a:r>
              <a:t>- 01_ab_testing/case_study/business_case.md</a:t>
            </a:r>
          </a:p>
          <a:p xmlns:a="http://schemas.openxmlformats.org/drawingml/2006/main">
            <a:r>
              <a:t>- 01_ab_testing/src/analyze_experiment.py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what the quantitative evidence means for the decision; avoid making the statistical method the headline.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- 01_ab_testing/case_study/expected_results.md</a:t>
            </a:r>
          </a:p>
          <a:p xmlns:a="http://schemas.openxmlformats.org/drawingml/2006/main">
            <a:r>
              <a:t>- 01_ab_testing/case_study/business_case.md</a:t>
            </a:r>
          </a:p>
          <a:p xmlns:a="http://schemas.openxmlformats.org/drawingml/2006/main">
            <a:r>
              <a:t>- 01_ab_testing/src/analyze_experiment.py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table to make trade-offs explicit. Draw attention to any adverse or uncertain signal instead of averaging it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- 01_ab_testing/case_study/expected_results.md</a:t>
            </a:r>
          </a:p>
          <a:p xmlns:a="http://schemas.openxmlformats.org/drawingml/2006/main">
            <a:r>
              <a:t>- 01_ab_testing/case_study/business_case.md</a:t>
            </a:r>
          </a:p>
          <a:p xmlns:a="http://schemas.openxmlformats.org/drawingml/2006/main">
            <a:r>
              <a:t>- 01_ab_testing/src/analyze_experiment.py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concrete action, monitoring, and the next decision point. Do not end on model or test mechanics.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- 01_ab_testing/case_study/expected_results.md</a:t>
            </a:r>
          </a:p>
          <a:p xmlns:a="http://schemas.openxmlformats.org/drawingml/2006/main">
            <a:r>
              <a:t>- 01_ab_testing/case_study/business_case.md</a:t>
            </a:r>
          </a:p>
          <a:p xmlns:a="http://schemas.openxmlformats.org/drawingml/2006/main">
            <a:r>
              <a:t>- 01_ab_testing/src/analyze_experiment.py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7715e4fa240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b6796ba9c4348" /><Relationship Type="http://schemas.openxmlformats.org/officeDocument/2006/relationships/slideLayout" Target="/ppt/slideLayouts/slideLayout1.xml" Id="Rb06c411ec8304c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c411ec8304c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e570fa9bd4f05" /><Relationship Type="http://schemas.openxmlformats.org/officeDocument/2006/relationships/notesSlide" Target="/ppt/notesSlides/notesSlide1.xml" Id="R98680b26c4a447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63037038642b4" /><Relationship Type="http://schemas.openxmlformats.org/officeDocument/2006/relationships/notesSlide" Target="/ppt/notesSlides/notesSlide2.xml" Id="Rd2825b9dd775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12ef1982a4cc7" /><Relationship Type="http://schemas.openxmlformats.org/officeDocument/2006/relationships/chart" Target="/ppt/slides/charts/chart1.xml" Id="R54376f359aac489d" /><Relationship Type="http://schemas.openxmlformats.org/officeDocument/2006/relationships/notesSlide" Target="/ppt/notesSlides/notesSlide3.xml" Id="R304d71325ecd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42e894f648e4" /><Relationship Type="http://schemas.openxmlformats.org/officeDocument/2006/relationships/notesSlide" Target="/ppt/notesSlides/notesSlide4.xml" Id="R41d6b0e88d8d46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3b7a765d045df" /><Relationship Type="http://schemas.openxmlformats.org/officeDocument/2006/relationships/notesSlide" Target="/ppt/notesSlides/notesSlide5.xml" Id="Rf82541123adf450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Checkout completion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Control</c:v>
              </c:pt>
              <c:pt idx="1">
                <c:v>Treatment</c:v>
              </c:pt>
            </c:strLit>
          </c:cat>
          <c:val>
            <c:numLit>
              <c:formatCode>General</c:formatCode>
              <c:ptCount val="2"/>
              <c:pt idx="0">
                <c:v>72.64</c:v>
              </c:pt>
              <c:pt idx="1">
                <c:v>75.95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5B66"/>
                    </a:solidFill>
                  </a:rPr>
                  <a:t>Checkout completion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5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5B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E570D-9C21-4168-B202-03D3EB14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8B720-DA32-439E-BC7E-87DBD497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"/>
            <a:ext cx="3914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35B66"/>
                </a:solidFill>
              </a:defRPr>
            </a:pPr>
            <a:r>
              <a:rPr sz="1800" b="0">
                <a:solidFill>
                  <a:srgbClr val="535B66"/>
                </a:solidFill>
              </a:rPr>
              <a:t>SYNTHETIC PORTFOLIO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301FA-C9BD-41F8-8A4D-EBB9676D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962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Roll out the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simplified 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EA992-EAF5-4954-BABA-A3538CE4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5B66"/>
                </a:solidFill>
              </a:defRPr>
            </a:pPr>
            <a:r>
              <a:rPr sz="1800" b="0">
                <a:solidFill>
                  <a:srgbClr val="535B66"/>
                </a:solidFill>
              </a:rPr>
              <a:t>A decision-ready experiment readout</a:t>
            </a:r>
          </a:p>
        </p:txBody>
      </p:sp>
    </p:spTree>
    <p:extLst>
      <p:ext uri="{BB962C8B-B14F-4D97-AF65-F5344CB8AC3E}">
        <p14:creationId xmlns:p14="http://schemas.microsoft.com/office/powerpoint/2010/main" val="55300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0B7AC-BAB1-4F68-8364-81C97F9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treatment clears both the statistical and business bars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CCBBD-99AA-4F09-BE5A-B421A8B7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BD742-D1F6-41DE-A35F-2167E32E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1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5B66"/>
                </a:solidFill>
              </a:defRPr>
            </a:pPr>
            <a:r>
              <a:rPr sz="1650" b="0">
                <a:solidFill>
                  <a:srgbClr val="535B66"/>
                </a:solidFill>
              </a:rPr>
              <a:t>A balanced 40,000-customer experiment shows a credible completion lift above NovaPay's +2.0 pp commercial threshold, alongside substantially faster checkout.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86D47-B23E-456F-83D3-BE7387AD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BED56-4F8F-42FA-BDBC-888D3678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+3.31 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7CA5E-9C99-424A-A6B9-1C93AA3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checkout completion lift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073AF-8BB5-4E58-AFFD-EE74FD04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E796C-441B-49FD-ACF1-84C002A8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7A55"/>
                </a:solidFill>
              </a:defRPr>
            </a:pPr>
            <a:r>
              <a:rPr sz="3750" b="1">
                <a:solidFill>
                  <a:srgbClr val="147A55"/>
                </a:solidFill>
              </a:rPr>
              <a:t>−25.19 sec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A62D8-803C-4020-BAF8-FBBF98AA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mean checkout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4359B-A68F-40A9-8BA3-15C40F69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894F5-A7FE-4978-B2B4-DC98F4B1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40,000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6FE26-930E-4B4D-B19D-1049B227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randomized 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7D2CA-45EB-46D7-B903-318696B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15688-DE19-43B0-99BE-CD3D0F2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5EDA6-EBEB-41EF-B892-B21EFA4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05450"/>
            <a:ext cx="871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Proceed toward rollout with guardrail and segment monitoring.</a:t>
            </a:r>
          </a:p>
        </p:txBody>
      </p:sp>
    </p:spTree>
    <p:extLst>
      <p:ext uri="{BB962C8B-B14F-4D97-AF65-F5344CB8AC3E}">
        <p14:creationId xmlns:p14="http://schemas.microsoft.com/office/powerpoint/2010/main" val="431296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7F5D-45AB-4F3B-A990-02F9B8A4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Completion rises without trading away customer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74F13-F542-449B-B161-0BF570AA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334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376f359aac489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200E5-8E98-40BC-805F-92C5364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F57FD-A876-49FD-B74E-DB099F3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LIFT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4D39B-3350-4BB2-A36E-827F2938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+3.31 pp absolute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+4.56% relative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87FDD-FBDD-47BA-952E-DE5EBA6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EC803-320A-4B90-B98C-1F1BD9A4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46CD5-775E-44F3-9521-8BE9A2C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95% CI: +2.45 to +4.17 pp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 &lt; 0.001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68A2-971C-4987-BEB2-7FDB599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D96D5-28F0-4AFC-A560-C83D1BA3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BUSINESS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676C3-3248-4238-B036-7DE577CB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Lower CI bound remains above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the +2.0 pp threshold</a:t>
            </a:r>
          </a:p>
        </p:txBody>
      </p:sp>
    </p:spTree>
    <p:extLst>
      <p:ext uri="{BB962C8B-B14F-4D97-AF65-F5344CB8AC3E}">
        <p14:creationId xmlns:p14="http://schemas.microsoft.com/office/powerpoint/2010/main" val="43275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0CBAF-F2B5-4273-A0D2-C3FD496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Guardrails support rollout rather than delay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C056-99B2-413A-A9E8-7E06BAC7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D510-44E2-4A65-81AA-1062C71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4014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5B66"/>
                </a:solidFill>
              </a:defRPr>
            </a:pPr>
            <a:r>
              <a:rPr sz="1575" b="0">
                <a:solidFill>
                  <a:srgbClr val="535B66"/>
                </a:solidFill>
              </a:rPr>
              <a:t>Treatment reduces support demand, while payment declines and fraud show no evidence of material deterioration.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390525" y="2143125"/>
          <a:ext xmlns:a="http://schemas.openxmlformats.org/drawingml/2006/main" cx="114109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809750"/>
                <a:gridCol w="1809750"/>
                <a:gridCol w="1714500"/>
                <a:gridCol w="3505200"/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Treatment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Checkout time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89.35 sec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64.16 sec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−25.19 sec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Materially faster</a:t>
                      </a:r>
                    </a:p>
                  </a:txBody>
                  <a:tcPr marL="85725" marR="85725" marT="76200" marB="7620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Support contacts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5.655%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4.570%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−1.085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Favorable</a:t>
                      </a:r>
                    </a:p>
                  </a:txBody>
                  <a:tcPr marL="85725" marR="85725" marT="76200" marB="7620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Payment declines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5.495%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5.180%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−0.315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Inconclusive</a:t>
                      </a:r>
                    </a:p>
                  </a:txBody>
                  <a:tcPr marL="85725" marR="85725" marT="76200" marB="7620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Fraud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0.355%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0.350%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−0.005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No meaningful change</a:t>
                      </a:r>
                    </a:p>
                  </a:txBody>
                  <a:tcPr marL="85725" marR="85725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91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DCF98-4AC2-467D-AC2C-DB54E5B1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Roll out deliberately and verify that the effect persists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3F0E5-D24C-4DF8-BECD-56E94DB0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866BF-A565-444E-A4BE-02319C24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90212-54E9-4829-9BF8-DAEF74DA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ROLL 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040D1-E74F-4B86-BDAC-3AA5B87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Move the simplified journey into a controlled operational rollout; retain the original metric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A52DB-F0F2-4A36-A9E0-61783D1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1575C-BC04-4C6F-90CC-88630759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3208F-B90A-492D-BF2B-A1E5707F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C6025-6C3E-4144-B712-5726698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Track completion, checkout time, payment declines, support contacts, fraud, and device-level stability.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4BDB5-B068-4921-96BA-F006CE34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9FD09-758E-4483-BF1B-C1CBCB6D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7BCBD-F266-4BA9-B10D-6A475D5A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DB40B-1435-44E5-B589-2C9E31E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Investigate tracking or implementation changes before attributing post-launch movement to the experience.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5DDDD-B82D-4677-BDB2-EB567106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98831-BE47-4CFA-9106-E1152F5B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9521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2026-08-26T03:52:14.5290000Z</dcterms:created>
  <dcterms:modified xsi:type="dcterms:W3CDTF">2026-08-26T03:52:14.5300000Z</dcterms:modified>
</coreProperties>
</file>