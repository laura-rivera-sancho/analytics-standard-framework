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ce758710944d94" /><Relationship Type="http://schemas.openxmlformats.org/officeDocument/2006/relationships/extended-properties" Target="/docProps/app.xml" Id="Rd3a422cb38f04974" /><Relationship Type="http://schemas.openxmlformats.org/officeDocument/2006/relationships/officeDocument" Target="/ppt/presentation.xml" Id="R0fae6543b638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6da6d5148e4e3a"/>
  </p:sldMasterIdLst>
  <p:notesMasterIdLst>
    <p:notesMasterId xmlns:r="http://schemas.openxmlformats.org/officeDocument/2006/relationships" r:id="Reaa4d5cb25754fb7"/>
  </p:notesMasterIdLst>
  <p:sldIdLst>
    <p:sldId xmlns:r="http://schemas.openxmlformats.org/officeDocument/2006/relationships" id="256" r:id="Rade8b2b072e94c74"/>
    <p:sldId xmlns:r="http://schemas.openxmlformats.org/officeDocument/2006/relationships" id="257" r:id="Rda79ce0f73bb4e10"/>
    <p:sldId xmlns:r="http://schemas.openxmlformats.org/officeDocument/2006/relationships" id="258" r:id="R1ecca66029a64025"/>
    <p:sldId xmlns:r="http://schemas.openxmlformats.org/officeDocument/2006/relationships" id="259" r:id="R8f3ea130fb8e41b0"/>
    <p:sldId xmlns:r="http://schemas.openxmlformats.org/officeDocument/2006/relationships" id="260" r:id="R76915faa23c24a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bac2a3470941d8" /><Relationship Type="http://schemas.openxmlformats.org/officeDocument/2006/relationships/slideMaster" Target="/ppt/slideMasters/slideMaster1.xml" Id="R486da6d5148e4e3a" /><Relationship Type="http://schemas.openxmlformats.org/officeDocument/2006/relationships/notesMaster" Target="/ppt/notesMasters/notesMaster1.xml" Id="Reaa4d5cb25754fb7" /><Relationship Type="http://schemas.openxmlformats.org/officeDocument/2006/relationships/presProps" Target="/ppt/presProps.xml" Id="R686f571280a6469b" /><Relationship Type="http://schemas.openxmlformats.org/officeDocument/2006/relationships/tableStyles" Target="/ppt/tableStyles.xml" Id="R36a18a0b071a4ecb" /><Relationship Type="http://schemas.openxmlformats.org/officeDocument/2006/relationships/slide" Target="/ppt/slides/slide1.xml" Id="Rade8b2b072e94c74" /><Relationship Type="http://schemas.openxmlformats.org/officeDocument/2006/relationships/slide" Target="/ppt/slides/slide2.xml" Id="Rda79ce0f73bb4e10" /><Relationship Type="http://schemas.openxmlformats.org/officeDocument/2006/relationships/slide" Target="/ppt/slides/slide3.xml" Id="R1ecca66029a64025" /><Relationship Type="http://schemas.openxmlformats.org/officeDocument/2006/relationships/slide" Target="/ppt/slides/slide4.xml" Id="R8f3ea130fb8e41b0" /><Relationship Type="http://schemas.openxmlformats.org/officeDocument/2006/relationships/slide" Target="/ppt/slides/slide5.xml" Id="R76915faa23c24a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d6081c254947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afad10b7154465" /><Relationship Type="http://schemas.openxmlformats.org/officeDocument/2006/relationships/notesMaster" Target="/ppt/notesMasters/notesMaster1.xml" Id="R272e316fe205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858e5e08db4f80" /><Relationship Type="http://schemas.openxmlformats.org/officeDocument/2006/relationships/notesMaster" Target="/ppt/notesMasters/notesMaster1.xml" Id="R1f61cd0af61b4e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b99d61b93b4186" /><Relationship Type="http://schemas.openxmlformats.org/officeDocument/2006/relationships/notesMaster" Target="/ppt/notesMasters/notesMaster1.xml" Id="R1fbba500633a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44a2a5be804489" /><Relationship Type="http://schemas.openxmlformats.org/officeDocument/2006/relationships/notesMaster" Target="/ppt/notesMasters/notesMaster1.xml" Id="Raa1892acf76342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28fe30995443b" /><Relationship Type="http://schemas.openxmlformats.org/officeDocument/2006/relationships/notesMaster" Target="/ppt/notesMasters/notesMaster1.xml" Id="R0094b46184ad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LuminaPay generator, reference analysis,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LuminaPay generator, reference analysis,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LuminaPay generator, reference analysis,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LuminaPay generator, reference analysis,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synthetic LuminaPay generator, reference analysis, and expected results.</a:t>
            </a:r>
          </a:p>
          <a:p xmlns:a="http://schemas.openxmlformats.org/drawingml/2006/main">
            <a:r>
              <a:t>- No external claims or assets.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e8159c264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408b1458304b27" /><Relationship Type="http://schemas.openxmlformats.org/officeDocument/2006/relationships/slideLayout" Target="/ppt/slideLayouts/slideLayout1.xml" Id="Refd6c5f8bb664b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d6c5f8bb664b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af9ff5d334547" /><Relationship Type="http://schemas.openxmlformats.org/officeDocument/2006/relationships/notesSlide" Target="/ppt/notesSlides/notesSlide1.xml" Id="R9aa8f972fc4a42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08426ef024b8d" /><Relationship Type="http://schemas.openxmlformats.org/officeDocument/2006/relationships/notesSlide" Target="/ppt/notesSlides/notesSlide2.xml" Id="Re670111b75664f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7d0a2cad04838" /><Relationship Type="http://schemas.openxmlformats.org/officeDocument/2006/relationships/notesSlide" Target="/ppt/notesSlides/notesSlide3.xml" Id="R22a5d541d37a44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937a3db7c4312" /><Relationship Type="http://schemas.openxmlformats.org/officeDocument/2006/relationships/chart" Target="/ppt/slides/charts/chart1.xml" Id="Re2f9a760b99e48dd" /><Relationship Type="http://schemas.openxmlformats.org/officeDocument/2006/relationships/notesSlide" Target="/ppt/notesSlides/notesSlide4.xml" Id="R98ca75c2915d44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df5fcc95441f5" /><Relationship Type="http://schemas.openxmlformats.org/officeDocument/2006/relationships/notesSlide" Target="/ppt/notesSlides/notesSlide5.xml" Id="R4a849c824bb04c3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Expected adopters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3K</c:v>
              </c:pt>
              <c:pt idx="1">
                <c:v>6K</c:v>
              </c:pt>
              <c:pt idx="2">
                <c:v>9K</c:v>
              </c:pt>
            </c:strLit>
          </c:cat>
          <c:val>
            <c:numLit>
              <c:formatCode>General</c:formatCode>
              <c:ptCount val="3"/>
              <c:pt idx="0">
                <c:v>506</c:v>
              </c:pt>
              <c:pt idx="1">
                <c:v>806</c:v>
              </c:pt>
              <c:pt idx="2">
                <c:v>1106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3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378FD4B-6335-4517-9753-D67FD494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LUMINAPAY · TARGET ANALYSIS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26AC801-FB16-460A-9343-708FEAE9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Prioritize 6,000 merchants for a controlled first wave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C0460F2-2877-4644-8715-4FAA763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Instant Settlement outreach · synthetic portfolio case · 2026-08-01 snapshot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377961F-29FC-4ED4-8942-8C156C42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2905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page">
            <a:extLst xmlns:a="http://schemas.openxmlformats.org/drawingml/2006/main">
              <a:ext uri="{FF2B5EF4-FFF2-40B4-BE49-F238E27FC236}">
                <a16:creationId xmlns:a16="http://schemas.microsoft.com/office/drawing/2014/main" id="{2271C17E-5F32-4A0E-8D36-B5779645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22594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AA00F653-F070-4AF2-81E8-B4A275B8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gates produce a focused first wave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E1C13FF-D1E3-4AF3-AE33-A533698A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metric-intro">
            <a:extLst xmlns:a="http://schemas.openxmlformats.org/drawingml/2006/main">
              <a:ext uri="{FF2B5EF4-FFF2-40B4-BE49-F238E27FC236}">
                <a16:creationId xmlns:a16="http://schemas.microsoft.com/office/drawing/2014/main" id="{C07DCEB3-914E-4A81-8B56-C6E61E1E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hard eligibility gates first; use need, value, and fit only to allocate capacity among eligible merchants.</a:t>
            </a:r>
          </a:p>
        </p:txBody>
      </p:sp>
      <p:sp>
        <p:nvSpPr>
          <p:cNvPr id="4" name="metric-panel-0">
            <a:extLst xmlns:a="http://schemas.openxmlformats.org/drawingml/2006/main">
              <a:ext uri="{FF2B5EF4-FFF2-40B4-BE49-F238E27FC236}">
                <a16:creationId xmlns:a16="http://schemas.microsoft.com/office/drawing/2014/main" id="{7EAD08C3-8F28-44FD-8528-0804C5D0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E9325A42-4C22-401F-B2F3-F32CD8D1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3038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59,960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D21FA97-03AA-431D-AF1E-EBD6EF09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clean merchants</a:t>
            </a:r>
          </a:p>
        </p:txBody>
      </p:sp>
      <p:sp>
        <p:nvSpPr>
          <p:cNvPr id="7" name="metric-detail-0">
            <a:extLst xmlns:a="http://schemas.openxmlformats.org/drawingml/2006/main">
              <a:ext uri="{FF2B5EF4-FFF2-40B4-BE49-F238E27FC236}">
                <a16:creationId xmlns:a16="http://schemas.microsoft.com/office/drawing/2014/main" id="{1051AD1F-622F-4F59-8E30-3586786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038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after quality controls</a:t>
            </a:r>
          </a:p>
        </p:txBody>
      </p:sp>
      <p:sp>
        <p:nvSpPr>
          <p:cNvPr id="8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F665F7DF-CACD-40C8-9307-26360D3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1937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40D94859-E989-48BE-B5C6-E1827CD5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24200"/>
            <a:ext cx="3038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25,805</a:t>
            </a:r>
          </a:p>
        </p:txBody>
      </p:sp>
      <p:sp>
        <p:nvSpPr>
          <p:cNvPr id="10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18008771-9B1C-49A1-985B-5690FED8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400550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eligible merchants</a:t>
            </a:r>
          </a:p>
        </p:txBody>
      </p:sp>
      <p:sp>
        <p:nvSpPr>
          <p:cNvPr id="11" name="metric-detail-1">
            <a:extLst xmlns:a="http://schemas.openxmlformats.org/drawingml/2006/main">
              <a:ext uri="{FF2B5EF4-FFF2-40B4-BE49-F238E27FC236}">
                <a16:creationId xmlns:a16="http://schemas.microsoft.com/office/drawing/2014/main" id="{D4401171-72CC-438B-8B88-7EED9C55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019675"/>
            <a:ext cx="3038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43.0% of clean population</a:t>
            </a:r>
          </a:p>
        </p:txBody>
      </p:sp>
      <p:sp>
        <p:nvSpPr>
          <p:cNvPr id="12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FCB97CA0-7544-41B1-9865-4981AEE2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19375"/>
            <a:ext cx="3571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F4E7B11F-2C34-4CE5-979F-5A036B38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24200"/>
            <a:ext cx="3038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6,000</a:t>
            </a:r>
          </a:p>
        </p:txBody>
      </p:sp>
      <p:sp>
        <p:nvSpPr>
          <p:cNvPr id="1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2AC40040-55E4-4B91-8EB9-FCF731AD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384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recommended contacts</a:t>
            </a:r>
          </a:p>
        </p:txBody>
      </p:sp>
      <p:sp>
        <p:nvSpPr>
          <p:cNvPr id="15" name="metric-detail-2">
            <a:extLst xmlns:a="http://schemas.openxmlformats.org/drawingml/2006/main">
              <a:ext uri="{FF2B5EF4-FFF2-40B4-BE49-F238E27FC236}">
                <a16:creationId xmlns:a16="http://schemas.microsoft.com/office/drawing/2014/main" id="{7BA556A7-81FC-4C9C-94A3-C10BEA1D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9675"/>
            <a:ext cx="3038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23.3% of eligible population</a:t>
            </a:r>
          </a:p>
        </p:txBody>
      </p:sp>
    </p:spTree>
    <p:extLst>
      <p:ext uri="{BB962C8B-B14F-4D97-AF65-F5344CB8AC3E}">
        <p14:creationId xmlns:p14="http://schemas.microsoft.com/office/powerpoint/2010/main" val="440774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F0DB7E19-531D-49E8-ABC5-B92447EB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25,805 merchants pass every eligibility gate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E2D6B5C5-6F48-4797-AE40-D048EFA9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funnel-subtitle">
            <a:extLst xmlns:a="http://schemas.openxmlformats.org/drawingml/2006/main">
              <a:ext uri="{FF2B5EF4-FFF2-40B4-BE49-F238E27FC236}">
                <a16:creationId xmlns:a16="http://schemas.microsoft.com/office/drawing/2014/main" id="{30B014FB-26EC-4A09-B3E7-03381409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largest reduction is merchants already enrolled; the final $5K volume gate leaves 25,805 addressable accounts.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334250"/>
                <a:gridCol w="2190750"/>
                <a:gridCol w="1866900"/>
              </a:tblGrid>
              <a:tr h="444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Eligibility stage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Remaining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/>
                        <a:t>Clean merchant population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59,960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100.0%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/>
                        <a:t>Active account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54,610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91.1%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/>
                        <a:t>Verified KYC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49,163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82.0%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/>
                        <a:t>At least 3 months tenure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49,032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81.8%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/>
                        <a:t>Not already enabled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38,005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63.4%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/>
                        <a:t>No contact in prior 30 days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34,174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57.0%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/>
                        <a:t>Low or medium risk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30,678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51.2%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350" b="1"/>
                        <a:t>At least $5K monthly volume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25,805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/>
                        <a:t>43.0%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2353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7DAF605-5B73-4F3C-A256-E37A9617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6,000 contacts balance reach and priority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E81C8E8E-9D48-4E0D-BFEE-3A57685A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905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f9a760b99e48dd"/>
          </a:graphicData>
        </a:graphic>
      </p:graphicFrame>
      <p:sp>
        <p:nvSpPr>
          <p:cNvPr id="4" name="capacity-panel-0">
            <a:extLst xmlns:a="http://schemas.openxmlformats.org/drawingml/2006/main">
              <a:ext uri="{FF2B5EF4-FFF2-40B4-BE49-F238E27FC236}">
                <a16:creationId xmlns:a16="http://schemas.microsoft.com/office/drawing/2014/main" id="{55F95D5C-49ED-4CC0-978A-B04AD1D9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143000"/>
            <a:ext cx="5029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pacity-value-0">
            <a:extLst xmlns:a="http://schemas.openxmlformats.org/drawingml/2006/main">
              <a:ext uri="{FF2B5EF4-FFF2-40B4-BE49-F238E27FC236}">
                <a16:creationId xmlns:a16="http://schemas.microsoft.com/office/drawing/2014/main" id="{95F2DD2D-F73B-402A-91B4-06B02128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144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13.4%</a:t>
            </a:r>
          </a:p>
        </p:txBody>
      </p:sp>
      <p:sp>
        <p:nvSpPr>
          <p:cNvPr id="6" name="capacity-label-0">
            <a:extLst xmlns:a="http://schemas.openxmlformats.org/drawingml/2006/main">
              <a:ext uri="{FF2B5EF4-FFF2-40B4-BE49-F238E27FC236}">
                <a16:creationId xmlns:a16="http://schemas.microsoft.com/office/drawing/2014/main" id="{A1C3C40F-A96F-4813-A4C5-619E2EA9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954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adoption at 6K</a:t>
            </a:r>
          </a:p>
        </p:txBody>
      </p:sp>
      <p:sp>
        <p:nvSpPr>
          <p:cNvPr id="7" name="capacity-panel-1">
            <a:extLst xmlns:a="http://schemas.openxmlformats.org/drawingml/2006/main">
              <a:ext uri="{FF2B5EF4-FFF2-40B4-BE49-F238E27FC236}">
                <a16:creationId xmlns:a16="http://schemas.microsoft.com/office/drawing/2014/main" id="{F9456CB7-3CF0-43EC-9E5A-1F5D3933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5029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pacity-value-1">
            <a:extLst xmlns:a="http://schemas.openxmlformats.org/drawingml/2006/main">
              <a:ext uri="{FF2B5EF4-FFF2-40B4-BE49-F238E27FC236}">
                <a16:creationId xmlns:a16="http://schemas.microsoft.com/office/drawing/2014/main" id="{A772B2F6-4383-430F-A2B0-72886D18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$386.8K</a:t>
            </a:r>
          </a:p>
        </p:txBody>
      </p:sp>
      <p:sp>
        <p:nvSpPr>
          <p:cNvPr id="9" name="capacity-label-1">
            <a:extLst xmlns:a="http://schemas.openxmlformats.org/drawingml/2006/main">
              <a:ext uri="{FF2B5EF4-FFF2-40B4-BE49-F238E27FC236}">
                <a16:creationId xmlns:a16="http://schemas.microsoft.com/office/drawing/2014/main" id="{EB6EDD63-D822-4329-8E69-07AACABB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337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illustrative annualized contribution</a:t>
            </a:r>
          </a:p>
        </p:txBody>
      </p:sp>
      <p:sp>
        <p:nvSpPr>
          <p:cNvPr id="10" name="capacity-panel-2">
            <a:extLst xmlns:a="http://schemas.openxmlformats.org/drawingml/2006/main">
              <a:ext uri="{FF2B5EF4-FFF2-40B4-BE49-F238E27FC236}">
                <a16:creationId xmlns:a16="http://schemas.microsoft.com/office/drawing/2014/main" id="{9D0B5832-3F8E-406B-A61D-906EA5F5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5029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acity-value-2">
            <a:extLst xmlns:a="http://schemas.openxmlformats.org/drawingml/2006/main">
              <a:ext uri="{FF2B5EF4-FFF2-40B4-BE49-F238E27FC236}">
                <a16:creationId xmlns:a16="http://schemas.microsoft.com/office/drawing/2014/main" id="{ABE847AC-5E8F-4328-9F61-458EAAE3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5910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5.54</a:t>
            </a:r>
          </a:p>
        </p:txBody>
      </p:sp>
      <p:sp>
        <p:nvSpPr>
          <p:cNvPr id="12" name="capacity-label-2">
            <a:extLst xmlns:a="http://schemas.openxmlformats.org/drawingml/2006/main">
              <a:ext uri="{FF2B5EF4-FFF2-40B4-BE49-F238E27FC236}">
                <a16:creationId xmlns:a16="http://schemas.microsoft.com/office/drawing/2014/main" id="{08536AF2-95E6-43D9-A9C0-AE86C8DA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720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average priority score</a:t>
            </a:r>
          </a:p>
        </p:txBody>
      </p:sp>
      <p:sp>
        <p:nvSpPr>
          <p:cNvPr id="13" name="capacity-footnote">
            <a:extLst xmlns:a="http://schemas.openxmlformats.org/drawingml/2006/main">
              <a:ext uri="{FF2B5EF4-FFF2-40B4-BE49-F238E27FC236}">
                <a16:creationId xmlns:a16="http://schemas.microsoft.com/office/drawing/2014/main" id="{796D6A5C-E040-47F5-932D-FD9BD99E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Planning assumptions—not observed outcomes</a:t>
            </a:r>
          </a:p>
        </p:txBody>
      </p:sp>
    </p:spTree>
    <p:extLst>
      <p:ext uri="{BB962C8B-B14F-4D97-AF65-F5344CB8AC3E}">
        <p14:creationId xmlns:p14="http://schemas.microsoft.com/office/powerpoint/2010/main" val="1335647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F8DDE27-7895-483D-8626-E7D0A155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0906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controlled first wave earns the right to scale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2F9DC8F5-F2C3-446A-AF36-3BE992B6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865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action-panel-0">
            <a:extLst xmlns:a="http://schemas.openxmlformats.org/drawingml/2006/main">
              <a:ext uri="{FF2B5EF4-FFF2-40B4-BE49-F238E27FC236}">
                <a16:creationId xmlns:a16="http://schemas.microsoft.com/office/drawing/2014/main" id="{C85A48E6-F2F9-413B-B9F7-E7E74FBB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ction-label-0">
            <a:extLst xmlns:a="http://schemas.openxmlformats.org/drawingml/2006/main">
              <a:ext uri="{FF2B5EF4-FFF2-40B4-BE49-F238E27FC236}">
                <a16:creationId xmlns:a16="http://schemas.microsoft.com/office/drawing/2014/main" id="{62D3EA15-E27A-4550-A100-ADB4C5B8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3038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 · APPROVE</a:t>
            </a:r>
          </a:p>
        </p:txBody>
      </p:sp>
      <p:sp>
        <p:nvSpPr>
          <p:cNvPr id="5" name="action-body-0">
            <a:extLst xmlns:a="http://schemas.openxmlformats.org/drawingml/2006/main">
              <a:ext uri="{FF2B5EF4-FFF2-40B4-BE49-F238E27FC236}">
                <a16:creationId xmlns:a16="http://schemas.microsoft.com/office/drawing/2014/main" id="{07C75E33-8681-4300-9B5C-9B6321D7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0384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Version the seven eligibility rules and score thresholds. Obtain Growth, Operations, Compliance, and Analytics sign-off.</a:t>
            </a:r>
          </a:p>
        </p:txBody>
      </p:sp>
      <p:sp>
        <p:nvSpPr>
          <p:cNvPr id="6" name="action-panel-1">
            <a:extLst xmlns:a="http://schemas.openxmlformats.org/drawingml/2006/main">
              <a:ext uri="{FF2B5EF4-FFF2-40B4-BE49-F238E27FC236}">
                <a16:creationId xmlns:a16="http://schemas.microsoft.com/office/drawing/2014/main" id="{9C81B26B-061A-4374-BDC2-AEC19336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240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tion-label-1">
            <a:extLst xmlns:a="http://schemas.openxmlformats.org/drawingml/2006/main">
              <a:ext uri="{FF2B5EF4-FFF2-40B4-BE49-F238E27FC236}">
                <a16:creationId xmlns:a16="http://schemas.microsoft.com/office/drawing/2014/main" id="{69CCA6BF-0650-437B-A070-C974166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866900"/>
            <a:ext cx="3038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 · ACTIVATE</a:t>
            </a:r>
          </a:p>
        </p:txBody>
      </p:sp>
      <p:sp>
        <p:nvSpPr>
          <p:cNvPr id="8" name="action-body-1">
            <a:extLst xmlns:a="http://schemas.openxmlformats.org/drawingml/2006/main">
              <a:ext uri="{FF2B5EF4-FFF2-40B4-BE49-F238E27FC236}">
                <a16:creationId xmlns:a16="http://schemas.microsoft.com/office/drawing/2014/main" id="{75F6BB66-2976-4AE1-BBE8-2A2BDC2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24125"/>
            <a:ext cx="30384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all 2,573 High plus 3,427 Medium. Rerun suppressions, minimize exported fields, and expire the list after seven days.</a:t>
            </a:r>
          </a:p>
        </p:txBody>
      </p:sp>
      <p:sp>
        <p:nvSpPr>
          <p:cNvPr id="9" name="action-panel-2">
            <a:extLst xmlns:a="http://schemas.openxmlformats.org/drawingml/2006/main">
              <a:ext uri="{FF2B5EF4-FFF2-40B4-BE49-F238E27FC236}">
                <a16:creationId xmlns:a16="http://schemas.microsoft.com/office/drawing/2014/main" id="{FCB76504-CDD8-4D0D-A7AA-EE9F21F4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571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ction-label-2">
            <a:extLst xmlns:a="http://schemas.openxmlformats.org/drawingml/2006/main">
              <a:ext uri="{FF2B5EF4-FFF2-40B4-BE49-F238E27FC236}">
                <a16:creationId xmlns:a16="http://schemas.microsoft.com/office/drawing/2014/main" id="{72767815-D474-4B31-8AC4-EADD941C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66900"/>
            <a:ext cx="3038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 · LEARN</a:t>
            </a:r>
          </a:p>
        </p:txBody>
      </p:sp>
      <p:sp>
        <p:nvSpPr>
          <p:cNvPr id="11" name="action-body-2">
            <a:extLst xmlns:a="http://schemas.openxmlformats.org/drawingml/2006/main">
              <a:ext uri="{FF2B5EF4-FFF2-40B4-BE49-F238E27FC236}">
                <a16:creationId xmlns:a16="http://schemas.microsoft.com/office/drawing/2014/main" id="{ECE89A19-4A33-40FB-81E5-231A4B59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30384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Randomize a holdout within priority bands. Measure incremental adoption, complaints, opt-outs, delivery, and segment coverage.</a:t>
            </a:r>
          </a:p>
        </p:txBody>
      </p:sp>
      <p:sp>
        <p:nvSpPr>
          <p:cNvPr id="12" name="action-close">
            <a:extLst xmlns:a="http://schemas.openxmlformats.org/drawingml/2006/main">
              <a:ext uri="{FF2B5EF4-FFF2-40B4-BE49-F238E27FC236}">
                <a16:creationId xmlns:a16="http://schemas.microsoft.com/office/drawing/2014/main" id="{6AEE81CF-D87B-46E6-86B2-C1A0C567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Scale only after the holdout validates incremental impact and guardrails remain acceptable.</a:t>
            </a:r>
          </a:p>
        </p:txBody>
      </p:sp>
    </p:spTree>
    <p:extLst>
      <p:ext uri="{BB962C8B-B14F-4D97-AF65-F5344CB8AC3E}">
        <p14:creationId xmlns:p14="http://schemas.microsoft.com/office/powerpoint/2010/main" val="1381926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2026-08-27T21:55:06.2220000Z</dcterms:created>
  <dcterms:modified xsi:type="dcterms:W3CDTF">2026-08-27T21:55:06.2220000Z</dcterms:modified>
</coreProperties>
</file>