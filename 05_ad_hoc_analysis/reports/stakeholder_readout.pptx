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82a198425a4416" /><Relationship Type="http://schemas.openxmlformats.org/officeDocument/2006/relationships/extended-properties" Target="/docProps/app.xml" Id="Re59a9ef7dbdc4a96" /><Relationship Type="http://schemas.openxmlformats.org/officeDocument/2006/relationships/officeDocument" Target="/ppt/presentation.xml" Id="R19e16d884da642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62e27149394781"/>
  </p:sldMasterIdLst>
  <p:notesMasterIdLst>
    <p:notesMasterId xmlns:r="http://schemas.openxmlformats.org/officeDocument/2006/relationships" r:id="R19570a60ba324363"/>
  </p:notesMasterIdLst>
  <p:sldIdLst>
    <p:sldId xmlns:r="http://schemas.openxmlformats.org/officeDocument/2006/relationships" id="256" r:id="Rfb2785279f644d93"/>
    <p:sldId xmlns:r="http://schemas.openxmlformats.org/officeDocument/2006/relationships" id="257" r:id="R529191496a2f414b"/>
    <p:sldId xmlns:r="http://schemas.openxmlformats.org/officeDocument/2006/relationships" id="258" r:id="Rbe61f2495db3457e"/>
    <p:sldId xmlns:r="http://schemas.openxmlformats.org/officeDocument/2006/relationships" id="259" r:id="Ra340b672c15d4c09"/>
    <p:sldId xmlns:r="http://schemas.openxmlformats.org/officeDocument/2006/relationships" id="260" r:id="R99afc33187c747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b95c9ec7c0417f" /><Relationship Type="http://schemas.openxmlformats.org/officeDocument/2006/relationships/slideMaster" Target="/ppt/slideMasters/slideMaster1.xml" Id="R4062e27149394781" /><Relationship Type="http://schemas.openxmlformats.org/officeDocument/2006/relationships/notesMaster" Target="/ppt/notesMasters/notesMaster1.xml" Id="R19570a60ba324363" /><Relationship Type="http://schemas.openxmlformats.org/officeDocument/2006/relationships/presProps" Target="/ppt/presProps.xml" Id="R6b0c741390124b05" /><Relationship Type="http://schemas.openxmlformats.org/officeDocument/2006/relationships/tableStyles" Target="/ppt/tableStyles.xml" Id="R7250dedfd7af497a" /><Relationship Type="http://schemas.openxmlformats.org/officeDocument/2006/relationships/slide" Target="/ppt/slides/slide1.xml" Id="Rfb2785279f644d93" /><Relationship Type="http://schemas.openxmlformats.org/officeDocument/2006/relationships/slide" Target="/ppt/slides/slide2.xml" Id="R529191496a2f414b" /><Relationship Type="http://schemas.openxmlformats.org/officeDocument/2006/relationships/slide" Target="/ppt/slides/slide3.xml" Id="Rbe61f2495db3457e" /><Relationship Type="http://schemas.openxmlformats.org/officeDocument/2006/relationships/slide" Target="/ppt/slides/slide4.xml" Id="Ra340b672c15d4c09" /><Relationship Type="http://schemas.openxmlformats.org/officeDocument/2006/relationships/slide" Target="/ppt/slides/slide5.xml" Id="R99afc33187c747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328b90d8ac48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503ecb0e914a5f" /><Relationship Type="http://schemas.openxmlformats.org/officeDocument/2006/relationships/notesMaster" Target="/ppt/notesMasters/notesMaster1.xml" Id="R73f861628a8348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a52e3283024f39" /><Relationship Type="http://schemas.openxmlformats.org/officeDocument/2006/relationships/notesMaster" Target="/ppt/notesMasters/notesMaster1.xml" Id="Rb566d064cc3d47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59da0762ea42da" /><Relationship Type="http://schemas.openxmlformats.org/officeDocument/2006/relationships/notesMaster" Target="/ppt/notesMasters/notesMaster1.xml" Id="R0b9849ab2aa941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605fe3b2ae4de4" /><Relationship Type="http://schemas.openxmlformats.org/officeDocument/2006/relationships/notesMaster" Target="/ppt/notesMasters/notesMaster1.xml" Id="R2699652d0cbd4a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b8cb6a0ad249df" /><Relationship Type="http://schemas.openxmlformats.org/officeDocument/2006/relationships/notesMaster" Target="/ppt/notesMasters/notesMaster1.xml" Id="R35cff0676a234d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OrbitMart generator, reference diagnostic, and expected results.</a:t>
            </a:r>
          </a:p>
          <a:p xmlns:a="http://schemas.openxmlformats.org/drawingml/2006/main">
            <a:r>
              <a:t>- No external claims or assets.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OrbitMart generator, reference diagnostic, and expected results.</a:t>
            </a:r>
          </a:p>
          <a:p xmlns:a="http://schemas.openxmlformats.org/drawingml/2006/main">
            <a:r>
              <a:t>- No external claims or assets.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OrbitMart generator, reference diagnostic, and expected results.</a:t>
            </a:r>
          </a:p>
          <a:p xmlns:a="http://schemas.openxmlformats.org/drawingml/2006/main">
            <a:r>
              <a:t>- No external claims or assets.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OrbitMart generator, reference diagnostic, and expected results.</a:t>
            </a:r>
          </a:p>
          <a:p xmlns:a="http://schemas.openxmlformats.org/drawingml/2006/main">
            <a:r>
              <a:t>- No external claims or assets.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OrbitMart generator, reference diagnostic, and expected results.</a:t>
            </a:r>
          </a:p>
          <a:p xmlns:a="http://schemas.openxmlformats.org/drawingml/2006/main">
            <a:r>
              <a:t>- No external claims or assets.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5e554d987249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b018fa2b19414c" /><Relationship Type="http://schemas.openxmlformats.org/officeDocument/2006/relationships/slideLayout" Target="/ppt/slideLayouts/slideLayout1.xml" Id="Rdbec2109120748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ec2109120748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f7706a6214f56" /><Relationship Type="http://schemas.openxmlformats.org/officeDocument/2006/relationships/notesSlide" Target="/ppt/notesSlides/notesSlide1.xml" Id="Rd00ac61b472841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6c965da2f4b7f" /><Relationship Type="http://schemas.openxmlformats.org/officeDocument/2006/relationships/notesSlide" Target="/ppt/notesSlides/notesSlide2.xml" Id="Rbbaf7931c3234d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cf569fbcc4df9" /><Relationship Type="http://schemas.openxmlformats.org/officeDocument/2006/relationships/notesSlide" Target="/ppt/notesSlides/notesSlide3.xml" Id="R6f175d8194f640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508c7f4324b91" /><Relationship Type="http://schemas.openxmlformats.org/officeDocument/2006/relationships/chart" Target="/ppt/slides/charts/chart1.xml" Id="Rbefdc27059924a6d" /><Relationship Type="http://schemas.openxmlformats.org/officeDocument/2006/relationships/notesSlide" Target="/ppt/notesSlides/notesSlide4.xml" Id="R01cf4cb7f51c42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83d33f38a4ab5" /><Relationship Type="http://schemas.openxmlformats.org/officeDocument/2006/relationships/notesSlide" Target="/ppt/notesSlides/notesSlide5.xml" Id="R7a943a22cd8d48d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Prior</c:v>
          </c:tx>
          <c:spPr>
            <a:solidFill xmlns:a="http://schemas.openxmlformats.org/drawingml/2006/main">
              <a:srgbClr val="D0EDFA"/>
            </a:solidFill>
          </c:spPr>
          <c:cat>
            <c:strLit>
              <c:ptCount val="3"/>
              <c:pt idx="0">
                <c:v>Android 8.4</c:v>
              </c:pt>
              <c:pt idx="1">
                <c:v>Digital wallet</c:v>
              </c:pt>
              <c:pt idx="2">
                <c:v>All Android</c:v>
              </c:pt>
            </c:strLit>
          </c:cat>
          <c:val>
            <c:numLit>
              <c:formatCode>General</c:formatCode>
              <c:ptCount val="3"/>
              <c:pt idx="0">
                <c:v>87.1</c:v>
              </c:pt>
              <c:pt idx="1">
                <c:v>88.78</c:v>
              </c:pt>
              <c:pt idx="2">
                <c:v>86.64</c:v>
              </c:pt>
            </c:numLit>
          </c:val>
        </c:ser>
        <c:ser>
          <c:idx val="1"/>
          <c:order val="1"/>
          <c:tx>
            <c:v>Current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Android 8.4</c:v>
              </c:pt>
              <c:pt idx="1">
                <c:v>Digital wallet</c:v>
              </c:pt>
              <c:pt idx="2">
                <c:v>All Android</c:v>
              </c:pt>
            </c:strLit>
          </c:cat>
          <c:val>
            <c:numLit>
              <c:formatCode>General</c:formatCode>
              <c:ptCount val="3"/>
              <c:pt idx="0">
                <c:v>79.86</c:v>
              </c:pt>
              <c:pt idx="1">
                <c:v>86.36</c:v>
              </c:pt>
              <c:pt idx="2">
                <c:v>84.28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DF8E9EB8-37C6-4B7E-94DE-778A5A69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ORBITMART · AD HOC DIAGNOSTIC</a:t>
            </a:r>
          </a:p>
        </p:txBody>
      </p:sp>
      <p:sp>
        <p:nvSpPr>
          <p:cNvPr id="2" name="cover-date">
            <a:extLst xmlns:a="http://schemas.openxmlformats.org/drawingml/2006/main">
              <a:ext uri="{FF2B5EF4-FFF2-40B4-BE49-F238E27FC236}">
                <a16:creationId xmlns:a16="http://schemas.microsoft.com/office/drawing/2014/main" id="{4022EE86-F043-4079-8798-57C8D08A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10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Decision readout · 2026-08-17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9C4D535-3CB0-48A1-8608-675A7814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Pause Android 8.4 expansion while wallet approvals are investigated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96AE96C-EF1A-4679-90CA-C26BCAB4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Synthetic portfolio case · matched seven-day comparison</a:t>
            </a:r>
          </a:p>
        </p:txBody>
      </p:sp>
      <p:sp>
        <p:nvSpPr>
          <p:cNvPr id="5" name="cover-page">
            <a:extLst xmlns:a="http://schemas.openxmlformats.org/drawingml/2006/main">
              <a:ext uri="{FF2B5EF4-FFF2-40B4-BE49-F238E27FC236}">
                <a16:creationId xmlns:a16="http://schemas.microsoft.com/office/drawing/2014/main" id="{BEA9D1CC-A8A1-4C55-A6E7-B8F5C85E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35291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19A3E146-A0DC-47F8-940D-97303AA2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Checkout completion fell 0.97 pp as traffic rose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E22A7D59-BF65-4F0C-921E-A8E2F147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metric-intro">
            <a:extLst xmlns:a="http://schemas.openxmlformats.org/drawingml/2006/main">
              <a:ext uri="{FF2B5EF4-FFF2-40B4-BE49-F238E27FC236}">
                <a16:creationId xmlns:a16="http://schemas.microsoft.com/office/drawing/2014/main" id="{7E4AE0AE-DE06-4C58-9A97-56C16335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95375"/>
            <a:ext cx="1114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Checkout starts increased 0.9%, yet fewer orders completed. The prior-week rate implies a meaningful current-week gap.</a:t>
            </a:r>
          </a:p>
        </p:txBody>
      </p:sp>
      <p:sp>
        <p:nvSpPr>
          <p:cNvPr id="4" name="metric-panel-0">
            <a:extLst xmlns:a="http://schemas.openxmlformats.org/drawingml/2006/main">
              <a:ext uri="{FF2B5EF4-FFF2-40B4-BE49-F238E27FC236}">
                <a16:creationId xmlns:a16="http://schemas.microsoft.com/office/drawing/2014/main" id="{6052D9A0-66C6-4070-A8A6-241DC243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3571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690F0BA4-1DA1-47A8-96BB-4C2B2B45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30384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−0.97 pp</a:t>
            </a:r>
          </a:p>
        </p:txBody>
      </p:sp>
      <p:sp>
        <p:nvSpPr>
          <p:cNvPr id="6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0832E377-B13E-4DBB-A9A9-06734B27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3038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checkout completion</a:t>
            </a:r>
          </a:p>
        </p:txBody>
      </p:sp>
      <p:sp>
        <p:nvSpPr>
          <p:cNvPr id="7" name="metric-detail-0">
            <a:extLst xmlns:a="http://schemas.openxmlformats.org/drawingml/2006/main">
              <a:ext uri="{FF2B5EF4-FFF2-40B4-BE49-F238E27FC236}">
                <a16:creationId xmlns:a16="http://schemas.microsoft.com/office/drawing/2014/main" id="{D38F244C-E2CA-44EE-8CA1-DEEAA345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87.07% → 86.10%</a:t>
            </a:r>
          </a:p>
        </p:txBody>
      </p:sp>
      <p:sp>
        <p:nvSpPr>
          <p:cNvPr id="8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4218DC6E-0EAE-41E0-9573-3C2BA1C3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19375"/>
            <a:ext cx="3571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6B223CB4-7AC3-413C-9F55-D0974AA9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05150"/>
            <a:ext cx="30384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254</a:t>
            </a:r>
          </a:p>
        </p:txBody>
      </p:sp>
      <p:sp>
        <p:nvSpPr>
          <p:cNvPr id="10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32745313-7A75-4C79-9750-37CB1C86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400550"/>
            <a:ext cx="3038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estimated order gap</a:t>
            </a:r>
          </a:p>
        </p:txBody>
      </p:sp>
      <p:sp>
        <p:nvSpPr>
          <p:cNvPr id="11" name="metric-detail-1">
            <a:extLst xmlns:a="http://schemas.openxmlformats.org/drawingml/2006/main">
              <a:ext uri="{FF2B5EF4-FFF2-40B4-BE49-F238E27FC236}">
                <a16:creationId xmlns:a16="http://schemas.microsoft.com/office/drawing/2014/main" id="{4E57533E-F396-45F5-BEF6-6E363B20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019675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 the prior completion rate</a:t>
            </a:r>
          </a:p>
        </p:txBody>
      </p:sp>
      <p:sp>
        <p:nvSpPr>
          <p:cNvPr id="12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DBFABDCE-94DF-4B3B-B235-75F8DE52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19375"/>
            <a:ext cx="3571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9ED0C8EB-130F-4A7C-9A94-B8B99B42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05150"/>
            <a:ext cx="30384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$15.5K</a:t>
            </a:r>
          </a:p>
        </p:txBody>
      </p:sp>
      <p:sp>
        <p:nvSpPr>
          <p:cNvPr id="14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8476C727-B851-45DA-8FA6-2ED89CDD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00550"/>
            <a:ext cx="3038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estimated revenue gap</a:t>
            </a:r>
          </a:p>
        </p:txBody>
      </p:sp>
      <p:sp>
        <p:nvSpPr>
          <p:cNvPr id="15" name="metric-detail-2">
            <a:extLst xmlns:a="http://schemas.openxmlformats.org/drawingml/2006/main">
              <a:ext uri="{FF2B5EF4-FFF2-40B4-BE49-F238E27FC236}">
                <a16:creationId xmlns:a16="http://schemas.microsoft.com/office/drawing/2014/main" id="{ED01238B-BE83-4F4C-BB80-795D0254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19675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using prior average order value</a:t>
            </a:r>
          </a:p>
        </p:txBody>
      </p:sp>
    </p:spTree>
    <p:extLst>
      <p:ext uri="{BB962C8B-B14F-4D97-AF65-F5344CB8AC3E}">
        <p14:creationId xmlns:p14="http://schemas.microsoft.com/office/powerpoint/2010/main" val="11395769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49F0CF14-4C4C-4B31-88FC-82805791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Payment approval is the only failing funnel stage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2910899D-6A04-4D35-9BA0-F5E6A8C2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tree-subtitle">
            <a:extLst xmlns:a="http://schemas.openxmlformats.org/drawingml/2006/main">
              <a:ext uri="{FF2B5EF4-FFF2-40B4-BE49-F238E27FC236}">
                <a16:creationId xmlns:a16="http://schemas.microsoft.com/office/drawing/2014/main" id="{483C6288-A45F-444D-AA4A-06002135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component rates multiply back to checkout completion; attempt and post-approval completion remain stable.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00050" y="2000250"/>
          <a:ext xmlns:a="http://schemas.openxmlformats.org/drawingml/2006/main" cx="11391900" cy="3476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333750"/>
                <a:gridCol w="1714500"/>
                <a:gridCol w="1714500"/>
                <a:gridCol w="1809750"/>
                <a:gridCol w="2819400"/>
              </a:tblGrid>
              <a:tr h="6953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KPI-tree stage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Prior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Current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Change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/>
                        <a:t>Payment attempt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96.31%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96.26%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−0.05 pp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Stable</a:t>
                      </a:r>
                    </a:p>
                  </a:txBody>
                  <a:tcPr marL="91440" marR="91440" marT="45720" marB="4572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1"/>
                        <a:t>Payment approval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/>
                        <a:t>91.55%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/>
                        <a:t>90.59%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/>
                        <a:t>−0.96 pp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/>
                        <a:t>Primary decline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/>
                        <a:t>Post-approval completion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98.76%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98.75%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−0.01 pp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Stable</a:t>
                      </a:r>
                    </a:p>
                  </a:txBody>
                  <a:tcPr marL="91440" marR="91440" marT="45720" marB="4572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/>
                        <a:t>Checkout completion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87.07%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86.10%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−0.97 pp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Material headline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tree-footnote">
            <a:extLst xmlns:a="http://schemas.openxmlformats.org/drawingml/2006/main">
              <a:ext uri="{FF2B5EF4-FFF2-40B4-BE49-F238E27FC236}">
                <a16:creationId xmlns:a16="http://schemas.microsoft.com/office/drawing/2014/main" id="{DE9044DE-DB72-4208-A7B6-3D88911A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Completion = attempt rate × approval rate × post-approval completion rate</a:t>
            </a:r>
          </a:p>
        </p:txBody>
      </p:sp>
    </p:spTree>
    <p:extLst>
      <p:ext uri="{BB962C8B-B14F-4D97-AF65-F5344CB8AC3E}">
        <p14:creationId xmlns:p14="http://schemas.microsoft.com/office/powerpoint/2010/main" val="2823937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9CE84E78-69B5-419A-9215-1526FC61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Android 8.4 and wallets localize the decline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9D59A1F6-BA32-4750-958F-44D2CB3D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00050" y="1333500"/>
          <a:ext xmlns:a="http://schemas.openxmlformats.org/drawingml/2006/main" cx="60960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fdc27059924a6d"/>
          </a:graphicData>
        </a:graphic>
      </p:graphicFrame>
      <p:sp>
        <p:nvSpPr>
          <p:cNvPr id="4" name="driver-panel-0">
            <a:extLst xmlns:a="http://schemas.openxmlformats.org/drawingml/2006/main">
              <a:ext uri="{FF2B5EF4-FFF2-40B4-BE49-F238E27FC236}">
                <a16:creationId xmlns:a16="http://schemas.microsoft.com/office/drawing/2014/main" id="{896AF7D4-064E-4E33-A866-B1107A2D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143000"/>
            <a:ext cx="4838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river-value-0">
            <a:extLst xmlns:a="http://schemas.openxmlformats.org/drawingml/2006/main">
              <a:ext uri="{FF2B5EF4-FFF2-40B4-BE49-F238E27FC236}">
                <a16:creationId xmlns:a16="http://schemas.microsoft.com/office/drawing/2014/main" id="{167A5555-B63F-450C-98F9-7E35A0C4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14450"/>
            <a:ext cx="426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−7.24 pp</a:t>
            </a:r>
          </a:p>
        </p:txBody>
      </p:sp>
      <p:sp>
        <p:nvSpPr>
          <p:cNvPr id="6" name="driver-label-0">
            <a:extLst xmlns:a="http://schemas.openxmlformats.org/drawingml/2006/main">
              <a:ext uri="{FF2B5EF4-FFF2-40B4-BE49-F238E27FC236}">
                <a16:creationId xmlns:a16="http://schemas.microsoft.com/office/drawing/2014/main" id="{0FB73C58-7179-43EE-B63E-7E4265AE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426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Android 8.4 completion</a:t>
            </a:r>
          </a:p>
        </p:txBody>
      </p:sp>
      <p:sp>
        <p:nvSpPr>
          <p:cNvPr id="7" name="driver-panel-1">
            <a:extLst xmlns:a="http://schemas.openxmlformats.org/drawingml/2006/main">
              <a:ext uri="{FF2B5EF4-FFF2-40B4-BE49-F238E27FC236}">
                <a16:creationId xmlns:a16="http://schemas.microsoft.com/office/drawing/2014/main" id="{5297A4C2-2FCC-439F-AAEF-587B5B24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81300"/>
            <a:ext cx="4838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river-value-1">
            <a:extLst xmlns:a="http://schemas.openxmlformats.org/drawingml/2006/main">
              <a:ext uri="{FF2B5EF4-FFF2-40B4-BE49-F238E27FC236}">
                <a16:creationId xmlns:a16="http://schemas.microsoft.com/office/drawing/2014/main" id="{93DEDFAA-00C8-4740-B472-9CB0EAE4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426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−2.41 pp</a:t>
            </a:r>
          </a:p>
        </p:txBody>
      </p:sp>
      <p:sp>
        <p:nvSpPr>
          <p:cNvPr id="9" name="driver-label-1">
            <a:extLst xmlns:a="http://schemas.openxmlformats.org/drawingml/2006/main">
              <a:ext uri="{FF2B5EF4-FFF2-40B4-BE49-F238E27FC236}">
                <a16:creationId xmlns:a16="http://schemas.microsoft.com/office/drawing/2014/main" id="{5086A056-008D-4C33-BAE2-9B6532AF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426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digital-wallet completion</a:t>
            </a:r>
          </a:p>
        </p:txBody>
      </p:sp>
      <p:sp>
        <p:nvSpPr>
          <p:cNvPr id="10" name="driver-panel-2">
            <a:extLst xmlns:a="http://schemas.openxmlformats.org/drawingml/2006/main">
              <a:ext uri="{FF2B5EF4-FFF2-40B4-BE49-F238E27FC236}">
                <a16:creationId xmlns:a16="http://schemas.microsoft.com/office/drawing/2014/main" id="{0C52C487-3DEC-48BD-B7FB-9BAE8F3B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19600"/>
            <a:ext cx="4838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river-value-2">
            <a:extLst xmlns:a="http://schemas.openxmlformats.org/drawingml/2006/main">
              <a:ext uri="{FF2B5EF4-FFF2-40B4-BE49-F238E27FC236}">
                <a16:creationId xmlns:a16="http://schemas.microsoft.com/office/drawing/2014/main" id="{01C39D71-4AB7-42C0-A28B-FBD073CA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91050"/>
            <a:ext cx="426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+47.2%</a:t>
            </a:r>
          </a:p>
        </p:txBody>
      </p:sp>
      <p:sp>
        <p:nvSpPr>
          <p:cNvPr id="12" name="driver-label-2">
            <a:extLst xmlns:a="http://schemas.openxmlformats.org/drawingml/2006/main">
              <a:ext uri="{FF2B5EF4-FFF2-40B4-BE49-F238E27FC236}">
                <a16:creationId xmlns:a16="http://schemas.microsoft.com/office/drawing/2014/main" id="{1C8486C5-078A-41C7-96AB-5DE7DDB9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81600"/>
            <a:ext cx="426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checkout support contacts</a:t>
            </a:r>
          </a:p>
        </p:txBody>
      </p:sp>
      <p:sp>
        <p:nvSpPr>
          <p:cNvPr id="13" name="driver-footnote">
            <a:extLst xmlns:a="http://schemas.openxmlformats.org/drawingml/2006/main">
              <a:ext uri="{FF2B5EF4-FFF2-40B4-BE49-F238E27FC236}">
                <a16:creationId xmlns:a16="http://schemas.microsoft.com/office/drawing/2014/main" id="{5B060820-B82B-4BE4-A68B-29918A98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Axis begins at 75%; q &lt; 0.05 for Android 8.4 and Digital wallet</a:t>
            </a:r>
          </a:p>
        </p:txBody>
      </p:sp>
    </p:spTree>
    <p:extLst>
      <p:ext uri="{BB962C8B-B14F-4D97-AF65-F5344CB8AC3E}">
        <p14:creationId xmlns:p14="http://schemas.microsoft.com/office/powerpoint/2010/main" val="21029348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917F8685-0D3C-46EB-B331-7B972F62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Pause expansion until approval rates recover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1299294C-9FA2-400A-971A-55F79E36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action-panel-0">
            <a:extLst xmlns:a="http://schemas.openxmlformats.org/drawingml/2006/main">
              <a:ext uri="{FF2B5EF4-FFF2-40B4-BE49-F238E27FC236}">
                <a16:creationId xmlns:a16="http://schemas.microsoft.com/office/drawing/2014/main" id="{8C95C226-C841-4E82-8A94-2DC4CEB8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5718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ction-label-0">
            <a:extLst xmlns:a="http://schemas.openxmlformats.org/drawingml/2006/main">
              <a:ext uri="{FF2B5EF4-FFF2-40B4-BE49-F238E27FC236}">
                <a16:creationId xmlns:a16="http://schemas.microsoft.com/office/drawing/2014/main" id="{651D776B-64C2-4474-9B16-5CE821E4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3038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 · PAUSE</a:t>
            </a:r>
          </a:p>
        </p:txBody>
      </p:sp>
      <p:sp>
        <p:nvSpPr>
          <p:cNvPr id="5" name="action-body-0">
            <a:extLst xmlns:a="http://schemas.openxmlformats.org/drawingml/2006/main">
              <a:ext uri="{FF2B5EF4-FFF2-40B4-BE49-F238E27FC236}">
                <a16:creationId xmlns:a16="http://schemas.microsoft.com/office/drawing/2014/main" id="{0B65EFD9-CAA4-4018-B78D-259E7733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30384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Stop further Android 8.4 expansion in Mexico and Brazil. Keep Android 8.3 and non-wallet traffic available as comparisons.</a:t>
            </a:r>
          </a:p>
        </p:txBody>
      </p:sp>
      <p:sp>
        <p:nvSpPr>
          <p:cNvPr id="6" name="action-panel-1">
            <a:extLst xmlns:a="http://schemas.openxmlformats.org/drawingml/2006/main">
              <a:ext uri="{FF2B5EF4-FFF2-40B4-BE49-F238E27FC236}">
                <a16:creationId xmlns:a16="http://schemas.microsoft.com/office/drawing/2014/main" id="{95EBC527-6D18-4E67-B4E3-C69A6018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524000"/>
            <a:ext cx="35718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ction-label-1">
            <a:extLst xmlns:a="http://schemas.openxmlformats.org/drawingml/2006/main">
              <a:ext uri="{FF2B5EF4-FFF2-40B4-BE49-F238E27FC236}">
                <a16:creationId xmlns:a16="http://schemas.microsoft.com/office/drawing/2014/main" id="{351F5465-EB44-4248-8CDA-50803785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66900"/>
            <a:ext cx="3038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 · VALIDATE</a:t>
            </a:r>
          </a:p>
        </p:txBody>
      </p:sp>
      <p:sp>
        <p:nvSpPr>
          <p:cNvPr id="8" name="action-body-1">
            <a:extLst xmlns:a="http://schemas.openxmlformats.org/drawingml/2006/main">
              <a:ext uri="{FF2B5EF4-FFF2-40B4-BE49-F238E27FC236}">
                <a16:creationId xmlns:a16="http://schemas.microsoft.com/office/drawing/2014/main" id="{46CF423C-0974-47F4-ADA7-E068D697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24125"/>
            <a:ext cx="30384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Inspect wallet error signatures and processor logs. Apply a reversible routing or rollback change only when the mechanism is confirmed.</a:t>
            </a:r>
          </a:p>
        </p:txBody>
      </p:sp>
      <p:sp>
        <p:nvSpPr>
          <p:cNvPr id="9" name="action-panel-2">
            <a:extLst xmlns:a="http://schemas.openxmlformats.org/drawingml/2006/main">
              <a:ext uri="{FF2B5EF4-FFF2-40B4-BE49-F238E27FC236}">
                <a16:creationId xmlns:a16="http://schemas.microsoft.com/office/drawing/2014/main" id="{5570F341-EE06-4609-98E2-C7CCB6AD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24000"/>
            <a:ext cx="35718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ction-label-2">
            <a:extLst xmlns:a="http://schemas.openxmlformats.org/drawingml/2006/main">
              <a:ext uri="{FF2B5EF4-FFF2-40B4-BE49-F238E27FC236}">
                <a16:creationId xmlns:a16="http://schemas.microsoft.com/office/drawing/2014/main" id="{17392CD5-F998-4BC4-8763-231F6E27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66900"/>
            <a:ext cx="3038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 · MEASURE</a:t>
            </a:r>
          </a:p>
        </p:txBody>
      </p:sp>
      <p:sp>
        <p:nvSpPr>
          <p:cNvPr id="11" name="action-body-2">
            <a:extLst xmlns:a="http://schemas.openxmlformats.org/drawingml/2006/main">
              <a:ext uri="{FF2B5EF4-FFF2-40B4-BE49-F238E27FC236}">
                <a16:creationId xmlns:a16="http://schemas.microsoft.com/office/drawing/2014/main" id="{F4506AE6-FA54-4D16-A947-3F08D4F5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24125"/>
            <a:ext cx="30384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Monitor approval, completion, support contacts, and revenue hourly. Resume only after sustained recovery and acceptable guardrails.</a:t>
            </a:r>
          </a:p>
        </p:txBody>
      </p:sp>
      <p:sp>
        <p:nvSpPr>
          <p:cNvPr id="12" name="action-close">
            <a:extLst xmlns:a="http://schemas.openxmlformats.org/drawingml/2006/main">
              <a:ext uri="{FF2B5EF4-FFF2-40B4-BE49-F238E27FC236}">
                <a16:creationId xmlns:a16="http://schemas.microsoft.com/office/drawing/2014/main" id="{7897D611-0951-40C7-94C8-93E7BFDF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Supported hypothesis—not proof: the release and wallet processor remain causally entangled.</a:t>
            </a:r>
          </a:p>
        </p:txBody>
      </p:sp>
    </p:spTree>
    <p:extLst>
      <p:ext uri="{BB962C8B-B14F-4D97-AF65-F5344CB8AC3E}">
        <p14:creationId xmlns:p14="http://schemas.microsoft.com/office/powerpoint/2010/main" val="3017290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2026-08-27T22:37:42.0810000Z</dcterms:created>
  <dcterms:modified xsi:type="dcterms:W3CDTF">2026-08-27T22:37:42.0810000Z</dcterms:modified>
</coreProperties>
</file>