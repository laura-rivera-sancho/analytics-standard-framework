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cbffbd1a5043bc" /><Relationship Type="http://schemas.openxmlformats.org/officeDocument/2006/relationships/extended-properties" Target="/docProps/app.xml" Id="R4ceebc4b758e4b8a" /><Relationship Type="http://schemas.openxmlformats.org/officeDocument/2006/relationships/officeDocument" Target="/ppt/presentation.xml" Id="R150ec8d6ad1c4c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a55c2739a84034"/>
  </p:sldMasterIdLst>
  <p:notesMasterIdLst>
    <p:notesMasterId xmlns:r="http://schemas.openxmlformats.org/officeDocument/2006/relationships" r:id="Rc0051eba7d9e475c"/>
  </p:notesMasterIdLst>
  <p:sldIdLst>
    <p:sldId xmlns:r="http://schemas.openxmlformats.org/officeDocument/2006/relationships" id="256" r:id="R2d4bf4731b64469c"/>
    <p:sldId xmlns:r="http://schemas.openxmlformats.org/officeDocument/2006/relationships" id="257" r:id="R3609f65d80304339"/>
    <p:sldId xmlns:r="http://schemas.openxmlformats.org/officeDocument/2006/relationships" id="258" r:id="R3c78615876ba4e74"/>
    <p:sldId xmlns:r="http://schemas.openxmlformats.org/officeDocument/2006/relationships" id="259" r:id="R160dcd5f460547f4"/>
    <p:sldId xmlns:r="http://schemas.openxmlformats.org/officeDocument/2006/relationships" id="260" r:id="R93eaad5820084b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9f2a2bbeea44cd" /><Relationship Type="http://schemas.openxmlformats.org/officeDocument/2006/relationships/slideMaster" Target="/ppt/slideMasters/slideMaster1.xml" Id="Rc0a55c2739a84034" /><Relationship Type="http://schemas.openxmlformats.org/officeDocument/2006/relationships/notesMaster" Target="/ppt/notesMasters/notesMaster1.xml" Id="Rc0051eba7d9e475c" /><Relationship Type="http://schemas.openxmlformats.org/officeDocument/2006/relationships/presProps" Target="/ppt/presProps.xml" Id="Rcb0a200270404df4" /><Relationship Type="http://schemas.openxmlformats.org/officeDocument/2006/relationships/tableStyles" Target="/ppt/tableStyles.xml" Id="R470cb0ccf9b345b0" /><Relationship Type="http://schemas.openxmlformats.org/officeDocument/2006/relationships/slide" Target="/ppt/slides/slide1.xml" Id="R2d4bf4731b64469c" /><Relationship Type="http://schemas.openxmlformats.org/officeDocument/2006/relationships/slide" Target="/ppt/slides/slide2.xml" Id="R3609f65d80304339" /><Relationship Type="http://schemas.openxmlformats.org/officeDocument/2006/relationships/slide" Target="/ppt/slides/slide3.xml" Id="R3c78615876ba4e74" /><Relationship Type="http://schemas.openxmlformats.org/officeDocument/2006/relationships/slide" Target="/ppt/slides/slide4.xml" Id="R160dcd5f460547f4" /><Relationship Type="http://schemas.openxmlformats.org/officeDocument/2006/relationships/slide" Target="/ppt/slides/slide5.xml" Id="R93eaad5820084b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8af5918e404a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ac644478bb44e6" /><Relationship Type="http://schemas.openxmlformats.org/officeDocument/2006/relationships/notesMaster" Target="/ppt/notesMasters/notesMaster1.xml" Id="R7466969abe5c4c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a5465e63374006" /><Relationship Type="http://schemas.openxmlformats.org/officeDocument/2006/relationships/notesMaster" Target="/ppt/notesMasters/notesMaster1.xml" Id="Recebd495791b45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2b5167bdd34fcb" /><Relationship Type="http://schemas.openxmlformats.org/officeDocument/2006/relationships/notesMaster" Target="/ppt/notesMasters/notesMaster1.xml" Id="Rdf4739f468374d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363d7446e0454a" /><Relationship Type="http://schemas.openxmlformats.org/officeDocument/2006/relationships/notesMaster" Target="/ppt/notesMasters/notesMaster1.xml" Id="R672a9f32789343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3786a5227446e0" /><Relationship Type="http://schemas.openxmlformats.org/officeDocument/2006/relationships/notesMaster" Target="/ppt/notesMasters/notesMaster1.xml" Id="R4189764eaee544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 the analysis supports and state that all data and results are synthetic.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- 02_pre_post_analysis/case_study/business_case.md</a:t>
            </a:r>
          </a:p>
          <a:p xmlns:a="http://schemas.openxmlformats.org/drawingml/2006/main">
            <a:r>
              <a:t>- 02_pre_post_analysis/templates/challenge_answer_key.md</a:t>
            </a:r>
          </a:p>
          <a:p xmlns:a="http://schemas.openxmlformats.org/drawingml/2006/main">
            <a:r>
              <a:t>- 02_pre_post_analysis/src/analyze_pre_post.py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recommendation, then explain the three decision metrics. Keep methodological detail for later slides.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- 02_pre_post_analysis/case_study/business_case.md</a:t>
            </a:r>
          </a:p>
          <a:p xmlns:a="http://schemas.openxmlformats.org/drawingml/2006/main">
            <a:r>
              <a:t>- 02_pre_post_analysis/templates/challenge_answer_key.md</a:t>
            </a:r>
          </a:p>
          <a:p xmlns:a="http://schemas.openxmlformats.org/drawingml/2006/main">
            <a:r>
              <a:t>- 02_pre_post_analysis/src/analyze_pre_post.py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what the quantitative evidence means for the decision; avoid making the statistical method the headline.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- 02_pre_post_analysis/case_study/business_case.md</a:t>
            </a:r>
          </a:p>
          <a:p xmlns:a="http://schemas.openxmlformats.org/drawingml/2006/main">
            <a:r>
              <a:t>- 02_pre_post_analysis/templates/challenge_answer_key.md</a:t>
            </a:r>
          </a:p>
          <a:p xmlns:a="http://schemas.openxmlformats.org/drawingml/2006/main">
            <a:r>
              <a:t>- 02_pre_post_analysis/src/analyze_pre_post.py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table to make trade-offs explicit. Draw attention to any adverse or uncertain signal instead of averaging it away.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- 02_pre_post_analysis/case_study/business_case.md</a:t>
            </a:r>
          </a:p>
          <a:p xmlns:a="http://schemas.openxmlformats.org/drawingml/2006/main">
            <a:r>
              <a:t>- 02_pre_post_analysis/templates/challenge_answer_key.md</a:t>
            </a:r>
          </a:p>
          <a:p xmlns:a="http://schemas.openxmlformats.org/drawingml/2006/main">
            <a:r>
              <a:t>- 02_pre_post_analysis/src/analyze_pre_post.py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concrete action, monitoring, and the next decision point. Do not end on model or test mechanics.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- 02_pre_post_analysis/case_study/business_case.md</a:t>
            </a:r>
          </a:p>
          <a:p xmlns:a="http://schemas.openxmlformats.org/drawingml/2006/main">
            <a:r>
              <a:t>- 02_pre_post_analysis/templates/challenge_answer_key.md</a:t>
            </a:r>
          </a:p>
          <a:p xmlns:a="http://schemas.openxmlformats.org/drawingml/2006/main">
            <a:r>
              <a:t>- 02_pre_post_analysis/src/analyze_pre_post.py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f8f18fc1a47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a93cee41024154" /><Relationship Type="http://schemas.openxmlformats.org/officeDocument/2006/relationships/slideLayout" Target="/ppt/slideLayouts/slideLayout1.xml" Id="R2eecdb78da5f4b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ecdb78da5f4b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eda717671465b" /><Relationship Type="http://schemas.openxmlformats.org/officeDocument/2006/relationships/notesSlide" Target="/ppt/notesSlides/notesSlide1.xml" Id="R48a0e9673c1844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e5beacc6041bc" /><Relationship Type="http://schemas.openxmlformats.org/officeDocument/2006/relationships/notesSlide" Target="/ppt/notesSlides/notesSlide2.xml" Id="R92bf47a4ec6f41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f3b94d8884291" /><Relationship Type="http://schemas.openxmlformats.org/officeDocument/2006/relationships/chart" Target="/ppt/slides/charts/chart1.xml" Id="Rd5d23fbcbf7c46c9" /><Relationship Type="http://schemas.openxmlformats.org/officeDocument/2006/relationships/notesSlide" Target="/ppt/notesSlides/notesSlide3.xml" Id="R6b210bd02f3c4d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35276837b4225" /><Relationship Type="http://schemas.openxmlformats.org/officeDocument/2006/relationships/notesSlide" Target="/ppt/notesSlides/notesSlide4.xml" Id="Rd81f2770d45442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4edd49c8147a1" /><Relationship Type="http://schemas.openxmlformats.org/officeDocument/2006/relationships/notesSlide" Target="/ppt/notesSlides/notesSlide5.xml" Id="R7aa0efdd92404a7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Verification completion (%)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Pre</c:v>
              </c:pt>
              <c:pt idx="1">
                <c:v>Post</c:v>
              </c:pt>
              <c:pt idx="2">
                <c:v>Stable Post</c:v>
              </c:pt>
            </c:strLit>
          </c:cat>
          <c:val>
            <c:numLit>
              <c:formatCode>General</c:formatCode>
              <c:ptCount val="3"/>
              <c:pt idx="0">
                <c:v>83.69</c:v>
              </c:pt>
              <c:pt idx="1">
                <c:v>89.34</c:v>
              </c:pt>
              <c:pt idx="2">
                <c:v>89.77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35B66"/>
                    </a:solidFill>
                  </a:rPr>
                  <a:t>Verification completion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35B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5B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B352A-6783-448C-8D83-65E25A67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ANALYTICS STANDARD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86FBF-0C43-4C8D-9374-60D123F0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0525"/>
            <a:ext cx="3914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35B66"/>
                </a:solidFill>
              </a:defRPr>
            </a:pPr>
            <a:r>
              <a:rPr sz="1800" b="0">
                <a:solidFill>
                  <a:srgbClr val="535B66"/>
                </a:solidFill>
              </a:rPr>
              <a:t>SYNTHETIC PORTFOLIO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4A4C8-045B-4496-8CDC-04EFAD99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0"/>
            <a:ext cx="9620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0000"/>
                </a:solidFill>
              </a:defRPr>
            </a:pPr>
            <a:r>
              <a:rPr sz="5700" b="1">
                <a:solidFill>
                  <a:srgbClr val="000000"/>
                </a:solidFill>
              </a:rPr>
              <a:t>Continue automation</a:t>
            </a:r>
          </a:p>
          <a:p xmlns:a="http://schemas.openxmlformats.org/drawingml/2006/main">
            <a:pPr algn="l">
              <a:defRPr sz="5700" b="1">
                <a:solidFill>
                  <a:srgbClr val="000000"/>
                </a:solidFill>
              </a:defRPr>
            </a:pPr>
            <a:r>
              <a:rPr sz="5700" b="1">
                <a:solidFill>
                  <a:srgbClr val="000000"/>
                </a:solidFill>
              </a:rPr>
              <a:t>with active monitoring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87667-7516-49EF-8003-41FEEA38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5B66"/>
                </a:solidFill>
              </a:defRPr>
            </a:pPr>
            <a:r>
              <a:rPr sz="1800" b="0">
                <a:solidFill>
                  <a:srgbClr val="535B66"/>
                </a:solidFill>
              </a:rPr>
              <a:t>An observational impact readout</a:t>
            </a:r>
          </a:p>
        </p:txBody>
      </p:sp>
    </p:spTree>
    <p:extLst>
      <p:ext uri="{BB962C8B-B14F-4D97-AF65-F5344CB8AC3E}">
        <p14:creationId xmlns:p14="http://schemas.microsoft.com/office/powerpoint/2010/main" val="626108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384DC-E3A0-430B-82C1-7438F9E6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Performance improves, but payment quality needs attention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6223C-43ED-4D93-AFB7-639B4894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5B66"/>
                </a:solidFill>
              </a:defRPr>
            </a:pPr>
            <a:r>
              <a:rPr sz="1050" b="0">
                <a:solidFill>
                  <a:srgbClr val="535B66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B4263-7105-4219-B546-ABCB1C26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43000"/>
            <a:ext cx="1141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5B66"/>
                </a:solidFill>
              </a:defRPr>
            </a:pPr>
            <a:r>
              <a:rPr sz="1650" b="0">
                <a:solidFill>
                  <a:srgbClr val="535B66"/>
                </a:solidFill>
              </a:rPr>
              <a:t>Completion, manual review, support demand, and verification time improve after launch. An adjusted model retains a positive launch effect, but the non-randomized design and payment-decline signal limit certainty.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BCD03-C91A-42F7-AE07-76088ECB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19375"/>
            <a:ext cx="3562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0A67E-7A7F-4F58-8F43-474E2C23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480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D8DFF"/>
                </a:solidFill>
              </a:defRPr>
            </a:pPr>
            <a:r>
              <a:rPr sz="3750" b="1">
                <a:solidFill>
                  <a:srgbClr val="3D8DFF"/>
                </a:solidFill>
              </a:rPr>
              <a:t>+5.65 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0CF50-5849-45CF-B3CE-C67F9517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148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observed completion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6396D-8585-4895-96F6-F24B949D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19375"/>
            <a:ext cx="3562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F7A41-B00E-47EA-AF50-60CF5F4E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47A55"/>
                </a:solidFill>
              </a:defRPr>
            </a:pPr>
            <a:r>
              <a:rPr sz="3750" b="1">
                <a:solidFill>
                  <a:srgbClr val="147A55"/>
                </a:solidFill>
              </a:rPr>
              <a:t>+3.20 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6814B-ABB5-4EB4-93DA-36671907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148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adjusted launch estimate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B580C-61F7-433E-AC8B-61ECCCA8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3562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30991-A165-4161-A54B-4915F0F6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480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B86600"/>
                </a:solidFill>
              </a:defRPr>
            </a:pPr>
            <a:r>
              <a:rPr sz="3750" b="1">
                <a:solidFill>
                  <a:srgbClr val="B86600"/>
                </a:solidFill>
              </a:rPr>
              <a:t>+0.54 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BCAD6-871D-42DF-B07B-CA3FE393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1148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payment-decline change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5B392-3661-41D5-A7E6-D8257A55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81625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03A71-92A0-4724-AE86-9A72AF22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72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RECOMMENDATION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E35981-FE2A-4D98-9C98-FB2C7A18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505450"/>
            <a:ext cx="8715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Continue the workflow with moderate causal confidence and Risk monitoring.</a:t>
            </a:r>
          </a:p>
        </p:txBody>
      </p:sp>
    </p:spTree>
    <p:extLst>
      <p:ext uri="{BB962C8B-B14F-4D97-AF65-F5344CB8AC3E}">
        <p14:creationId xmlns:p14="http://schemas.microsoft.com/office/powerpoint/2010/main" val="13980485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95C8B-75F1-4AA0-88E9-F397FCD8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adjusted launch signal remains positive after key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26F60-4022-43A0-830D-D77B80A2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5B66"/>
                </a:solidFill>
              </a:defRPr>
            </a:pPr>
            <a:r>
              <a:rPr sz="1050" b="0">
                <a:solidFill>
                  <a:srgbClr val="535B66"/>
                </a:solidFill>
              </a:rPr>
              <a:t>03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533400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d23fbcbf7c46c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2EB72-E171-48A1-BAA8-761C5911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52550"/>
            <a:ext cx="55340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727CB-53DC-49E6-BDD5-0A513E36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OBSERVED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69DA3-5F1B-4FD7-8F06-0C9AC864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+5.65 pp full-Post change</a:t>
            </a:r>
          </a:p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+6.08 pp stable-Post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73AA0-E95F-49E3-A30E-A93EE048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33700"/>
            <a:ext cx="55340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5DA7E-6F87-4795-B22C-6F61DBB7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62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ADJUSTED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8B5B5-F8BE-44D7-9535-23FB5981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+3.20 pp immediate level shift</a:t>
            </a:r>
          </a:p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95% CI: +1.43 to +4.97 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D9902-1B9C-4B8A-9C36-2F0B768B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14850"/>
            <a:ext cx="55340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FAD0B-45C6-4FA5-A9EA-C13C1F47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43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0EBAC-57D3-4A46-90E4-068D9EC5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863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Moderate—not high</a:t>
            </a:r>
          </a:p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No randomized Control group</a:t>
            </a:r>
          </a:p>
        </p:txBody>
      </p:sp>
    </p:spTree>
    <p:extLst>
      <p:ext uri="{BB962C8B-B14F-4D97-AF65-F5344CB8AC3E}">
        <p14:creationId xmlns:p14="http://schemas.microsoft.com/office/powerpoint/2010/main" val="4780320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9B587-0F58-4F11-8CF1-82727417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One guardrail offsets an otherwise favorable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68717-EDE6-4BE8-9C43-99D7AA73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5B66"/>
                </a:solidFill>
              </a:defRPr>
            </a:pPr>
            <a:r>
              <a:rPr sz="1050" b="0">
                <a:solidFill>
                  <a:srgbClr val="535B66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1E260-EA92-41EA-99AB-94CE09EC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4014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5B66"/>
                </a:solidFill>
              </a:defRPr>
            </a:pPr>
            <a:r>
              <a:rPr sz="1575" b="0">
                <a:solidFill>
                  <a:srgbClr val="535B66"/>
                </a:solidFill>
              </a:rPr>
              <a:t>The payment-decline increase is small but statistically detectable; it should remain visible in the decision and monitoring plan.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390525" y="2143125"/>
          <a:ext xmlns:a="http://schemas.openxmlformats.org/drawingml/2006/main" cx="1141095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71750"/>
                <a:gridCol w="1809750"/>
                <a:gridCol w="1809750"/>
                <a:gridCol w="1714500"/>
                <a:gridCol w="3505200"/>
              </a:tblGrid>
              <a:tr h="6191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85725" marR="85725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Pre</a:t>
                      </a:r>
                    </a:p>
                  </a:txBody>
                  <a:tcPr marL="85725" marR="85725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Post</a:t>
                      </a:r>
                    </a:p>
                  </a:txBody>
                  <a:tcPr marL="85725" marR="85725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 marL="85725" marR="85725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 marL="85725" marR="85725" marT="76200" marB="76200">
                    <a:solidFill>
                      <a:srgbClr val="00000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Manual review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31.50%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22.23%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−9.27 pp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Strong improvement</a:t>
                      </a:r>
                    </a:p>
                  </a:txBody>
                  <a:tcPr marL="85725" marR="85725" marT="76200" marB="7620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Verification time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112.85 sec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78.28 sec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−34.57 sec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Strong improvement</a:t>
                      </a:r>
                    </a:p>
                  </a:txBody>
                  <a:tcPr marL="85725" marR="85725" marT="76200" marB="7620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Support contacts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6.12%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4.53%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−1.59 pp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Favorable</a:t>
                      </a:r>
                    </a:p>
                  </a:txBody>
                  <a:tcPr marL="85725" marR="85725" marT="76200" marB="7620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Payment declines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7.52%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8.06%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+0.54 pp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Monitor closely</a:t>
                      </a:r>
                    </a:p>
                  </a:txBody>
                  <a:tcPr marL="85725" marR="85725" marT="76200" marB="7620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Fraud confirmed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0.436%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0.469%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+0.033 pp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Rare; inconclusive</a:t>
                      </a:r>
                    </a:p>
                  </a:txBody>
                  <a:tcPr marL="85725" marR="85725" marT="76200" marB="762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9034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AB05D-7C78-41AF-9C8B-E00AC65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Continue, isolate risk, and improve the next causal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EB159-D5B7-4A61-B548-05F4D0BA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5B66"/>
                </a:solidFill>
              </a:defRPr>
            </a:pPr>
            <a:r>
              <a:rPr sz="1050" b="0">
                <a:solidFill>
                  <a:srgbClr val="535B66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A5DCA-A42E-4307-8EC6-B561F006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35623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67892-F727-435C-B8BD-8F0147DF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859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CONTINUE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E93AE-99D7-4A18-9065-4A69996E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0"/>
            <a:ext cx="2952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Keep the workflow active while reporting ramp and stable-Post separately; do not describe the estimate as randomized proof.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7C436-0E6C-46C3-8079-8E3E872F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05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B7B54-61BA-4C81-B0BA-C206956F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524000"/>
            <a:ext cx="35623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8AF4F-A89C-48E3-9FF4-018E3F81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859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MONITOR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2DDD7-F9EB-4FAF-93CF-669E0C8E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952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Review payment declines, fraud event counts, completion, and high-risk traffic outside campaign periods.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DBF95-4C1C-4F0F-BA68-C5C42CC8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505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BCF09-BC3F-4A4C-87D5-55FA16AA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24000"/>
            <a:ext cx="35623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2CAC73-C5A9-4D8F-B462-E2FE75E8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8859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A9C7B-3E95-4D13-B15D-362CFC89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571750"/>
            <a:ext cx="2952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Use a phased rollout or holdout for the next material workflow change whenever operationally feasible.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E7738-260E-49CA-9940-354D7304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505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95E01-FA0E-4B33-8BC8-B930FFBD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340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51514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2026-08-26T03:52:18.1210000Z</dcterms:created>
  <dcterms:modified xsi:type="dcterms:W3CDTF">2026-08-26T03:52:18.1210000Z</dcterms:modified>
</coreProperties>
</file>